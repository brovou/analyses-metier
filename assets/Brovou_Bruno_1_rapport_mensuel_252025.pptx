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5" r:id="rId2"/>
    <p:sldId id="263" r:id="rId3"/>
    <p:sldId id="266" r:id="rId4"/>
    <p:sldId id="260" r:id="rId5"/>
    <p:sldId id="264" r:id="rId6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I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2033C-4C17-4237-B63A-DF9CAD25B10B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I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I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1559D-4453-4023-AFE4-980396064249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395209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I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1559D-4453-4023-AFE4-980396064249}" type="slidenum">
              <a:rPr lang="fr-CI" smtClean="0"/>
              <a:t>5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4059443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BA16C8-8519-F15C-B4B1-FDE6CE59C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EDE786-A5FC-4254-7B7C-6318A1031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4F3C96-822E-CEB0-1DA8-6F7E781D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81A457-4370-A3C9-4364-530EEC5B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AFC8FB-914C-C172-AA57-F0FDD8A2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61162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D13AF4-35EA-084D-CED2-E8187F5A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191BD-6B67-8E08-CCAD-3BB96FAF7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F14CFA-60EA-51E3-2546-50CF1DF9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664F64-3E95-8263-CC78-163B0D73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A44E85-DF14-3453-10EC-F95686D5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62573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8CCF8-614E-05DE-D9DF-43665CD50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40922A-7290-1AE5-BD28-C94D3269B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E9B1F-CE04-FE45-5377-A09B6096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700869-C857-0F16-4BF6-C49E6B04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F956F6-4EF4-BAF3-935A-F14E7FDD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4612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E2941A-E529-84B1-3819-AF84350D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9BBC1B-3BFA-41E6-8229-1D30CEFAC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2D4D23-9AE6-186F-3450-E70253FDA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B02975-7AF5-653C-D441-9746FFC9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3A4042-0F74-2D07-5A96-4A06CF7E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DA31D2-2704-CC4C-D03B-083F2DD6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51633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BF04AF-E4CB-69B3-96C9-774DC3E5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1F8B26-869F-11F8-5973-3DBBC07F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809818-FCD5-9A61-53D6-DC13F2BE0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703F100-6975-3B93-EF30-5DDA668CD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4D7ED59-9114-7B5F-7CC1-54E75181D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87AC61-C040-6118-6A21-24EE45602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681876B-1485-AECA-0F14-C0070498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20C6158-7D2F-D9A7-8B64-65C6E577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83796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C15C9-E040-7174-5677-841876CB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185507-E26C-EDAB-0591-0F91CD67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8758F9-E1EE-DEA1-54CC-D119EC26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E6C817-62E5-EA39-29BD-49DF392A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90089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091581-EA13-EA18-73E1-1891DAD1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6BA3A6-5CD6-EBA5-3FBD-DFC4A28E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ABB246-FAB0-3ED5-8A83-9E55193C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5759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87F863-C9E6-113D-0774-581BDB5F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C86F7B-6930-6BBE-F512-B04113E5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DD53D9-EDE5-A141-48B3-1CC41DD99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3457E9-E482-1A78-7CDC-908F9AAF9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D5B8C1-14FE-DC3A-4F22-0EBC4B07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63ADC5-46F7-7192-9C18-70C510DC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80272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64E7A6-C887-A8F8-7FFB-FF499D8D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4D724B-1E24-CFB2-E2B4-83BD023B2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C192CE-3772-7C10-2A6C-2DFC42749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B0C87C-4D49-E712-F96B-07436436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6E72E8-C88A-E55B-1F08-F9CFB652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1586AC-990A-B138-C270-5A2B7D88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04026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37512D-3330-0E2B-9DB7-204AFF0F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792C95C-9201-4B85-D7F4-B35D522B0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C61BDF-72E2-DD29-808D-BD01C014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D14AF8-C860-30C2-4FCA-CAEE2AD0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FC610A-80B0-C39C-13EA-A3F08EA7E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85494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28CD6F-8FA2-02FC-A808-007CCEE2C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27A5C7-37BB-852B-679B-9010C5B7F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04188F-7FDE-072B-AA73-82AA78BE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2C7363-A4B6-5D26-D669-2FA5B9257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7E7CF7-0981-F53E-2743-3B610744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06053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F3E69E-1F28-4A4E-5C23-EE48D317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E8946E-E4B5-0B4D-F882-23197FB4E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168D4-A537-C58E-8652-D7B890051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DC8E2-7B3A-4314-9ABC-79FD21EABFF8}" type="datetimeFigureOut">
              <a:rPr lang="fr-CI" smtClean="0"/>
              <a:t>15/04/2025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50C875-603D-5789-5B82-ACF539C94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3F023E-6443-1C94-64AE-3BEC2A94E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63ABE-3933-4C5B-B198-DE11A510BD46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9135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6F516A-C279-49DF-C52A-C9A34C58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743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Analyse du ratio/achat par rapport au nombre de visites</a:t>
            </a:r>
            <a:endParaRPr lang="fr-CI" sz="4000" dirty="0"/>
          </a:p>
        </p:txBody>
      </p:sp>
      <p:pic>
        <p:nvPicPr>
          <p:cNvPr id="4" name="Espace réservé du contenu 5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FAFDCC88-4BF5-5284-058A-2C6961F49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" t="8706" r="4879" b="6843"/>
          <a:stretch/>
        </p:blipFill>
        <p:spPr>
          <a:xfrm>
            <a:off x="0" y="1219061"/>
            <a:ext cx="6770862" cy="4885512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52993AA-A71D-9B6D-8CDD-6DA1529DF05C}"/>
              </a:ext>
            </a:extLst>
          </p:cNvPr>
          <p:cNvSpPr txBox="1"/>
          <p:nvPr/>
        </p:nvSpPr>
        <p:spPr>
          <a:xfrm>
            <a:off x="6302476" y="561631"/>
            <a:ext cx="5889523" cy="6335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Tendance des visites sur le site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Segoe UI" panose="020B0502040204020203" pitchFamily="34" charset="0"/>
              </a:rPr>
              <a:t>A</a:t>
            </a:r>
            <a:r>
              <a:rPr lang="fr-FR" sz="1600" b="0" i="0" dirty="0">
                <a:effectLst/>
                <a:latin typeface="Segoe UI" panose="020B0502040204020203" pitchFamily="34" charset="0"/>
              </a:rPr>
              <a:t>ugmentation significative des visites (plus de 500 000 visites en février 2020).</a:t>
            </a:r>
            <a:endParaRPr lang="fr-FR" sz="16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Impact d’une action marketing pour améliorer la visibilité du site et attiré plus de visiteurs.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Tendance des ventes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Augmente également au fil du temps mais le rythme beaucoup plus lent mais élevé.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Conversion des visites en ventes réelles peu élevée.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dirty="0"/>
              <a:t>Malgré une hausse plus marquée des visites que des ventes, ces données montrent un intérêt croissant pour le site et une conversion positive.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Opportunités d’amélioration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Améliorer l’expérience utilisateur.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Témoignage et avis clients.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Facilité l’achat et la livraison.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Offres personnalisées.</a:t>
            </a:r>
          </a:p>
        </p:txBody>
      </p:sp>
    </p:spTree>
    <p:extLst>
      <p:ext uri="{BB962C8B-B14F-4D97-AF65-F5344CB8AC3E}">
        <p14:creationId xmlns:p14="http://schemas.microsoft.com/office/powerpoint/2010/main" val="250300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CB49BA-59A5-10A1-A57F-06F9A6E0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6024"/>
            <a:ext cx="12192000" cy="57877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Analyse du taux de conversion</a:t>
            </a:r>
            <a:endParaRPr lang="fr-CI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67C28F2-DABC-8834-535C-FD3F96AA8386}"/>
              </a:ext>
            </a:extLst>
          </p:cNvPr>
          <p:cNvSpPr txBox="1"/>
          <p:nvPr/>
        </p:nvSpPr>
        <p:spPr>
          <a:xfrm>
            <a:off x="6096000" y="774796"/>
            <a:ext cx="6096000" cy="59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Taux de conversion initial </a:t>
            </a:r>
            <a:r>
              <a:rPr lang="fr-FR" sz="1600" dirty="0"/>
              <a:t>: En avril 2019 (0,11), efficacité significative du site à convertir les visiteurs en acheteurs.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Baisse progressive </a:t>
            </a:r>
            <a:r>
              <a:rPr lang="fr-FR" sz="1600" dirty="0"/>
              <a:t>: Chute à 0,05 en février 2020 -&gt; diminution d’au moins 0,05 sur la période.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Acquisition de trafic fonctionne efficacement </a:t>
            </a:r>
            <a:r>
              <a:rPr lang="fr-FR" sz="1600" dirty="0"/>
              <a:t>:</a:t>
            </a:r>
            <a:r>
              <a:rPr lang="fr-FR" sz="1600" b="1" dirty="0"/>
              <a:t> </a:t>
            </a:r>
            <a:r>
              <a:rPr lang="fr-FR" sz="1600" dirty="0"/>
              <a:t>L'augmentation des visites (plus de 500,000 en février 2020) reflète un excellent travail d'acquisition de trafic.</a:t>
            </a:r>
            <a:endParaRPr lang="fr-FR" sz="1600" i="1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dirty="0"/>
              <a:t> Bien que le taux de conversion ait baissé avec l'explosion des visites, cela montre une audience élargie et un fort potentiel pour convertir ces nouveaux visiteurs en acheteurs.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Causes possibles de la baisse </a:t>
            </a:r>
            <a:r>
              <a:rPr lang="fr-FR" sz="1600" dirty="0"/>
              <a:t>: Changement stratégique. Augmentation du trafic non qualifié. Complexité du parcours client.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Axes stratégiques pour redresser la tendance </a:t>
            </a:r>
            <a:r>
              <a:rPr lang="fr-FR" sz="1600" dirty="0"/>
              <a:t>: Améliorer l’expérience utilisateur. Cibler les visiteurs qualifiés. Créer des incitations fortes.</a:t>
            </a:r>
            <a:endParaRPr lang="fr-CI" sz="1600" dirty="0"/>
          </a:p>
        </p:txBody>
      </p:sp>
      <p:pic>
        <p:nvPicPr>
          <p:cNvPr id="9" name="Espace réservé du contenu 8" descr="Une image contenant ligne, Tracé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C49F001-B473-EA45-869D-62E4C14C2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132"/>
            <a:ext cx="6165088" cy="4795072"/>
          </a:xfrm>
        </p:spPr>
      </p:pic>
    </p:spTree>
    <p:extLst>
      <p:ext uri="{BB962C8B-B14F-4D97-AF65-F5344CB8AC3E}">
        <p14:creationId xmlns:p14="http://schemas.microsoft.com/office/powerpoint/2010/main" val="274014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2998D-E49B-9F63-9455-9F440DE0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4746"/>
          </a:xfrm>
        </p:spPr>
        <p:txBody>
          <a:bodyPr>
            <a:noAutofit/>
          </a:bodyPr>
          <a:lstStyle/>
          <a:p>
            <a:pPr algn="ctr"/>
            <a:r>
              <a:rPr lang="fr-FR" sz="3200" dirty="0"/>
              <a:t>Analyse bivariée du panier moyen en fonction du temps passé sur le site</a:t>
            </a:r>
          </a:p>
        </p:txBody>
      </p:sp>
      <p:pic>
        <p:nvPicPr>
          <p:cNvPr id="5" name="Image 4" descr="Une image contenant capture d’écran, visualisation&#10;&#10;Le contenu généré par l’IA peut être incorrect.">
            <a:extLst>
              <a:ext uri="{FF2B5EF4-FFF2-40B4-BE49-F238E27FC236}">
                <a16:creationId xmlns:a16="http://schemas.microsoft.com/office/drawing/2014/main" id="{99320FE0-3680-8CCB-7BAB-E96BAB5E4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34"/>
            <a:ext cx="6228498" cy="484438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A583296-3E36-3A34-F890-63E45E3B8EB7}"/>
              </a:ext>
            </a:extLst>
          </p:cNvPr>
          <p:cNvSpPr txBox="1"/>
          <p:nvPr/>
        </p:nvSpPr>
        <p:spPr>
          <a:xfrm>
            <a:off x="5496560" y="599523"/>
            <a:ext cx="6695440" cy="6335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Corrélation observée</a:t>
            </a:r>
            <a:endParaRPr lang="fr-FR" sz="1600" b="1" dirty="0">
              <a:solidFill>
                <a:srgbClr val="FF0000"/>
              </a:solidFill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Temps &lt; 5 mn -&gt; un  panier moyen autour de 30 €.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10 mn &lt; Temps &lt; 14 mn, le panier moyen  atteignent 60 € à 70 €, soit une augmentation de 100 % à 130 %.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Hypothèse de projection du chiffre d'affaires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Temps actuel moyen : 7 minutes → panier moyen d’environ 45 €.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Scénario cible : Passer à une moyenne de 10 minutes → panier moyen prévu autour de 60 €.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Chiffre d'affaires potentiel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Plus les utilisateurs passent plus de temps sur le site, le montant de leur panier moyen augmente.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Cette corrélation (entre 4 et 10 minutes) montre que plus un visiteur s'engage, plus la valeur des transactions augmente.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Axes stratégiques basés sur l’analyse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Maximiser l’interaction et faciliter la navigation.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Encourager des sessions plus longues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Cibler les utilisateurs des sessions courtes.</a:t>
            </a:r>
          </a:p>
        </p:txBody>
      </p:sp>
    </p:spTree>
    <p:extLst>
      <p:ext uri="{BB962C8B-B14F-4D97-AF65-F5344CB8AC3E}">
        <p14:creationId xmlns:p14="http://schemas.microsoft.com/office/powerpoint/2010/main" val="35885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D2816-2A31-F7CF-7047-FE6CDDCB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78"/>
            <a:ext cx="12192000" cy="657430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Analyse de la variance du temps passé sur le site</a:t>
            </a:r>
            <a:endParaRPr lang="fr-CI" sz="3600" dirty="0"/>
          </a:p>
        </p:txBody>
      </p:sp>
      <p:pic>
        <p:nvPicPr>
          <p:cNvPr id="6" name="Espace réservé du contenu 5" descr="Une image contenant texte, diagramme, capture d’écran, Rectangle&#10;&#10;Le contenu généré par l’IA peut être incorrect.">
            <a:extLst>
              <a:ext uri="{FF2B5EF4-FFF2-40B4-BE49-F238E27FC236}">
                <a16:creationId xmlns:a16="http://schemas.microsoft.com/office/drawing/2014/main" id="{9545FDCC-6976-245A-A0AA-D35E2D221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0820"/>
            <a:ext cx="7281300" cy="5663234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062566A-FED7-79B8-AF24-D9938750A2BD}"/>
              </a:ext>
            </a:extLst>
          </p:cNvPr>
          <p:cNvSpPr txBox="1"/>
          <p:nvPr/>
        </p:nvSpPr>
        <p:spPr>
          <a:xfrm>
            <a:off x="6457172" y="1096464"/>
            <a:ext cx="5653548" cy="523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400" b="1" dirty="0"/>
              <a:t>Temps médian passé par les acheteurs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La médiane reste relativement stable, oscillant autour de 7,1 mn  et 6,1 mn sur l’ensemble de la majorité des mois observés.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CI" sz="1400" b="1" dirty="0"/>
              <a:t>Dispersion des données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Variation modérée du temps passé en février 2020, l’écart est compris entre 6 et 8 minutes (reflète des comportements homogènes).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Valeurs extrêmes s'élargissent vers certains mois, tels qu’en novembre 2019 (certains utilisateurs ont passé plus de 10 mn sur le site)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CI" sz="1400" b="1" dirty="0"/>
              <a:t>Tendances spécifiques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Mai 2019 : Légère réduction de la variabilité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Novembre 2019 : Augmentation de la dispersion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400" dirty="0"/>
              <a:t>L'augmentation du temps passé sur le site indique un intérêt plus fort et une meilleure exploration des produits avant l'achat.</a:t>
            </a:r>
          </a:p>
        </p:txBody>
      </p:sp>
    </p:spTree>
    <p:extLst>
      <p:ext uri="{BB962C8B-B14F-4D97-AF65-F5344CB8AC3E}">
        <p14:creationId xmlns:p14="http://schemas.microsoft.com/office/powerpoint/2010/main" val="12206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73B0D3-FB2E-24BD-89A0-5BFCAA8B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637764"/>
          </a:xfrm>
        </p:spPr>
        <p:txBody>
          <a:bodyPr>
            <a:noAutofit/>
          </a:bodyPr>
          <a:lstStyle/>
          <a:p>
            <a:pPr algn="ctr"/>
            <a:r>
              <a:rPr lang="fr-FR" sz="4000" dirty="0"/>
              <a:t>Analyse du chiffre d'affaires</a:t>
            </a:r>
            <a:endParaRPr lang="fr-CI" sz="4000" dirty="0"/>
          </a:p>
        </p:txBody>
      </p:sp>
      <p:pic>
        <p:nvPicPr>
          <p:cNvPr id="4" name="Espace réservé du contenu 14" descr="Une image contenant texte, capture d’écran, lign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41BD9496-B8E0-117C-1EED-7FC70F1C9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1" y="549791"/>
            <a:ext cx="6251116" cy="486198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A6294E4-8340-71DD-BE73-6DE55042207A}"/>
              </a:ext>
            </a:extLst>
          </p:cNvPr>
          <p:cNvSpPr txBox="1"/>
          <p:nvPr/>
        </p:nvSpPr>
        <p:spPr>
          <a:xfrm>
            <a:off x="5629708" y="1084804"/>
            <a:ext cx="6639033" cy="4119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Croissance notable de la nourriture </a:t>
            </a:r>
            <a:r>
              <a:rPr lang="fr-FR" sz="1600" dirty="0"/>
              <a:t>: mars 2019 à février 2020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Forte croissance  de 0€ à plus de 450,000€.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En février 2020, elle constitue au moins 75 % du chiffre d'affaires.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Stabilité et potentiel des biens de consommation </a:t>
            </a:r>
            <a:r>
              <a:rPr lang="fr-FR" sz="1600" dirty="0"/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Stable (200,000 € -&gt; janvier 2020) et légère hausse (février 2020).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En février 2020, elle constitue au plus 25% du chiffre d'affaires.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CI" sz="1600" b="1" dirty="0"/>
              <a:t>Déclin progressif du High-Tech </a:t>
            </a:r>
            <a:r>
              <a:rPr lang="fr-CI" sz="1600" dirty="0"/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Baisse de 40% (300,000€ -&gt;mars 2019 - 160,000€ -&gt;janvier 2020).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En février 2020, elle constitue au plus 0% du chiffre d'affaires.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1600" b="1" dirty="0"/>
              <a:t>Dynamique globale </a:t>
            </a:r>
            <a:r>
              <a:rPr lang="fr-FR" sz="1600" dirty="0"/>
              <a:t>: Progression du chiffre d'affaires à près de 700,000 €, puis légère baisse en février due à l'arrêt du High-Tech.</a:t>
            </a:r>
            <a:endParaRPr lang="fr-CI" sz="16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1598F9-7AD1-A4E5-185B-9E7CACBA9265}"/>
              </a:ext>
            </a:extLst>
          </p:cNvPr>
          <p:cNvSpPr txBox="1"/>
          <p:nvPr/>
        </p:nvSpPr>
        <p:spPr>
          <a:xfrm>
            <a:off x="-36098" y="5323797"/>
            <a:ext cx="12191997" cy="15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CI" sz="1600" b="1" dirty="0"/>
              <a:t>Projections stratégiques </a:t>
            </a:r>
            <a:r>
              <a:rPr lang="fr-CI" sz="16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Chiffre d'affaires prévu pour mars 2020 serai au alentour de 700,000€ à 750,000€, stabilisant la tendance post-décembre 2019.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La croissance du chiffre d'affaires reflète une stratégie efficace, où l'alimentaire et les biens de consommation attirent plus de visiteurs que le High-Tech, augmentant ainsi les ventes et le chiffre d'affaires.</a:t>
            </a:r>
          </a:p>
        </p:txBody>
      </p:sp>
    </p:spTree>
    <p:extLst>
      <p:ext uri="{BB962C8B-B14F-4D97-AF65-F5344CB8AC3E}">
        <p14:creationId xmlns:p14="http://schemas.microsoft.com/office/powerpoint/2010/main" val="328976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12283</TotalTime>
  <Words>747</Words>
  <Application>Microsoft Office PowerPoint</Application>
  <PresentationFormat>Grand écran</PresentationFormat>
  <Paragraphs>59</Paragraphs>
  <Slides>5</Slides>
  <Notes>1</Notes>
  <HiddenSlides>1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Wingdings</vt:lpstr>
      <vt:lpstr>Thème Office</vt:lpstr>
      <vt:lpstr>Analyse du ratio/achat par rapport au nombre de visites</vt:lpstr>
      <vt:lpstr>Analyse du taux de conversion</vt:lpstr>
      <vt:lpstr>Analyse bivariée du panier moyen en fonction du temps passé sur le site</vt:lpstr>
      <vt:lpstr>Analyse de la variance du temps passé sur le site</vt:lpstr>
      <vt:lpstr>Analyse du chiffre d'affaires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Brovou</dc:creator>
  <cp:lastModifiedBy>Bruno Brovou</cp:lastModifiedBy>
  <cp:revision>142</cp:revision>
  <cp:lastPrinted>2025-04-01T16:54:23Z</cp:lastPrinted>
  <dcterms:created xsi:type="dcterms:W3CDTF">2025-03-27T17:46:55Z</dcterms:created>
  <dcterms:modified xsi:type="dcterms:W3CDTF">2025-04-15T17:10:15Z</dcterms:modified>
</cp:coreProperties>
</file>