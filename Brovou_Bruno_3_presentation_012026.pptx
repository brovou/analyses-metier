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9"/>
  </p:notesMasterIdLst>
  <p:handoutMasterIdLst>
    <p:handoutMasterId r:id="rId30"/>
  </p:handoutMasterIdLst>
  <p:sldIdLst>
    <p:sldId id="256" r:id="rId5"/>
    <p:sldId id="291" r:id="rId6"/>
    <p:sldId id="258" r:id="rId7"/>
    <p:sldId id="268" r:id="rId8"/>
    <p:sldId id="269" r:id="rId9"/>
    <p:sldId id="272" r:id="rId10"/>
    <p:sldId id="273" r:id="rId11"/>
    <p:sldId id="274" r:id="rId12"/>
    <p:sldId id="260" r:id="rId13"/>
    <p:sldId id="261" r:id="rId14"/>
    <p:sldId id="275" r:id="rId15"/>
    <p:sldId id="276" r:id="rId16"/>
    <p:sldId id="278" r:id="rId17"/>
    <p:sldId id="279" r:id="rId18"/>
    <p:sldId id="280" r:id="rId19"/>
    <p:sldId id="293" r:id="rId20"/>
    <p:sldId id="281" r:id="rId21"/>
    <p:sldId id="282" r:id="rId22"/>
    <p:sldId id="283" r:id="rId23"/>
    <p:sldId id="292" r:id="rId24"/>
    <p:sldId id="286" r:id="rId25"/>
    <p:sldId id="288" r:id="rId26"/>
    <p:sldId id="289" r:id="rId27"/>
    <p:sldId id="290" r:id="rId28"/>
  </p:sldIdLst>
  <p:sldSz cx="12188825" cy="6858000"/>
  <p:notesSz cx="6858000" cy="9144000"/>
  <p:defaultTextStyle>
    <a:defPPr rtl="0">
      <a:defRPr lang="fr-fr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3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348" autoAdjust="0"/>
  </p:normalViewPr>
  <p:slideViewPr>
    <p:cSldViewPr>
      <p:cViewPr varScale="1">
        <p:scale>
          <a:sx n="62" d="100"/>
          <a:sy n="62" d="100"/>
        </p:scale>
        <p:origin x="420" y="282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88" d="100"/>
          <a:sy n="88" d="100"/>
        </p:scale>
        <p:origin x="2820" y="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fr-FR" dirty="0"/>
          </a:p>
        </p:txBody>
      </p:sp>
      <p:sp>
        <p:nvSpPr>
          <p:cNvPr id="3" name="Espace réservé de la date 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39A2291-0035-4D64-A7A5-F36AC1AF399D}" type="datetime1">
              <a:rPr lang="fr-FR" smtClean="0"/>
              <a:t>20/01/2026</a:t>
            </a:fld>
            <a:endParaRPr lang="fr-FR" dirty="0"/>
          </a:p>
        </p:txBody>
      </p:sp>
      <p:sp>
        <p:nvSpPr>
          <p:cNvPr id="4" name="Espace réservé du pied de page 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fr-FR" dirty="0"/>
          </a:p>
        </p:txBody>
      </p:sp>
      <p:sp>
        <p:nvSpPr>
          <p:cNvPr id="5" name="Espace réservé du numéro de diapositive 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A8E322BB-75AD-4A1E-9661-2724167329F0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127057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fr-FR" noProof="0" dirty="0"/>
          </a:p>
        </p:txBody>
      </p:sp>
      <p:sp>
        <p:nvSpPr>
          <p:cNvPr id="3" name="Espace réservé de la date 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419B5CD-CE9D-4F17-8DE3-0045DF2A06F1}" type="datetime1">
              <a:rPr lang="fr-FR" noProof="0" smtClean="0"/>
              <a:t>20/01/2026</a:t>
            </a:fld>
            <a:endParaRPr lang="fr-FR" noProof="0" dirty="0"/>
          </a:p>
        </p:txBody>
      </p:sp>
      <p:sp>
        <p:nvSpPr>
          <p:cNvPr id="4" name="Espace réservé d’image de diapositive 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fr-FR" noProof="0" dirty="0"/>
          </a:p>
        </p:txBody>
      </p:sp>
      <p:sp>
        <p:nvSpPr>
          <p:cNvPr id="5" name="Espace réservé des notes 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fr-FR" noProof="0" dirty="0"/>
              <a:t>Modifiez les styles du texte du masque</a:t>
            </a:r>
          </a:p>
          <a:p>
            <a:pPr lvl="1" rtl="0"/>
            <a:r>
              <a:rPr lang="fr-FR" noProof="0" dirty="0"/>
              <a:t>Deuxième niveau</a:t>
            </a:r>
          </a:p>
          <a:p>
            <a:pPr lvl="2" rtl="0"/>
            <a:r>
              <a:rPr lang="fr-FR" noProof="0" dirty="0"/>
              <a:t>Troisième niveau</a:t>
            </a:r>
          </a:p>
          <a:p>
            <a:pPr lvl="3" rtl="0"/>
            <a:r>
              <a:rPr lang="fr-FR" noProof="0" dirty="0"/>
              <a:t>Quatrième niveau</a:t>
            </a:r>
          </a:p>
          <a:p>
            <a:pPr lvl="4" rtl="0"/>
            <a:r>
              <a:rPr lang="fr-FR" noProof="0" dirty="0"/>
              <a:t>Cinquième niveau</a:t>
            </a:r>
          </a:p>
        </p:txBody>
      </p:sp>
      <p:sp>
        <p:nvSpPr>
          <p:cNvPr id="6" name="Espace réservé du pied de page 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fr-FR" noProof="0" dirty="0"/>
          </a:p>
        </p:txBody>
      </p:sp>
      <p:sp>
        <p:nvSpPr>
          <p:cNvPr id="7" name="Espace réservé du numéro de diapositive 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B045B7DE-1198-4F2F-B574-CA8CAE341642}" type="slidenum">
              <a:rPr lang="fr-FR" noProof="0" smtClean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188231245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B045B7DE-1198-4F2F-B574-CA8CAE341642}" type="slidenum">
              <a:rPr lang="fr-FR" smtClean="0"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790169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B045B7DE-1198-4F2F-B574-CA8CAE341642}" type="slidenum">
              <a:rPr lang="fr-FR" smtClean="0"/>
              <a:t>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038162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B045B7DE-1198-4F2F-B574-CA8CAE341642}" type="slidenum">
              <a:rPr lang="fr-FR" smtClean="0"/>
              <a:t>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411720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B045B7DE-1198-4F2F-B574-CA8CAE341642}" type="slidenum">
              <a:rPr lang="fr-FR" smtClean="0"/>
              <a:t>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31495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0A15E-A0CE-6085-2C01-FD79260F5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C55C4783-EBB3-B3AE-63FC-0A86C3EA53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8DBB03E0-8274-9D6C-F84B-0C185178BF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FA5985A-8735-6228-EF1D-4D2A3ABC9F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B045B7DE-1198-4F2F-B574-CA8CAE341642}" type="slidenum">
              <a:rPr lang="fr-FR" smtClean="0"/>
              <a:t>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126792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822CC-F6A0-D696-249D-5D4A8A4F7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2E4EF5D-91DF-DA74-F467-189ADA87A8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8E17EC3A-4CC6-7012-C034-4BAF28485F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8630B9B-A92D-0F80-6A72-0D975CDD9D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B045B7DE-1198-4F2F-B574-CA8CAE341642}" type="slidenum">
              <a:rPr lang="fr-FR" smtClean="0"/>
              <a:t>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779852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59D42-4FED-4682-3FB7-7CB607683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6C99D93-0286-C6FB-101F-D5F38F1A04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50880945-25C8-6C6C-820E-66A4F6BBE0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7246258-8048-BAE7-C523-40DD7188D7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B045B7DE-1198-4F2F-B574-CA8CAE341642}" type="slidenum">
              <a:rPr lang="fr-FR" smtClean="0"/>
              <a:t>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622556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B045B7DE-1198-4F2F-B574-CA8CAE341642}" type="slidenum">
              <a:rPr lang="fr-FR" smtClean="0"/>
              <a:t>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602774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B045B7DE-1198-4F2F-B574-CA8CAE341642}" type="slidenum">
              <a:rPr lang="fr-FR" smtClean="0"/>
              <a:t>10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746749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4C0D4F-65F7-FD97-790A-DAD404AE2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08DF297-4A01-2A6D-1A04-AB348243C9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3AF4C522-CEBE-7DB0-76AC-CF8FAA71C6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8F22CB9-8278-7130-70DF-03759F34B1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B045B7DE-1198-4F2F-B574-CA8CAE341642}" type="slidenum">
              <a:rPr lang="fr-FR" smtClean="0"/>
              <a:t>11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60612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602BEF-9A34-8B60-53CF-CA4A52B92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6629E38D-49BC-CFA9-1CDB-A16E46D302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8D930D59-44EB-EAE3-6256-8E34A90BDC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9C3DD8E-CD01-DEAE-ACAE-5ED041B2AA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B045B7DE-1198-4F2F-B574-CA8CAE341642}" type="slidenum">
              <a:rPr lang="fr-FR" smtClean="0"/>
              <a:t>12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143725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D4FD6-DFF6-5201-0C25-42D94901C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46F7B41-FBA4-1F29-BA04-1E23F8537A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F0A51EB-1532-5052-2D0D-5F3E5DD526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9B81798-79AD-4EB5-C007-8589456570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B045B7DE-1198-4F2F-B574-CA8CAE341642}" type="slidenum">
              <a:rPr lang="fr-FR" smtClean="0"/>
              <a:t>13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866022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1D0B3-51C7-024E-AE3F-25C14D390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955B116-1E72-5168-EBCC-4573BBB0ED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19570B9-DB55-18A9-BA9B-35DCF2CE11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1B07CB0-0A3F-EF1C-75DF-290E5390E5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B045B7DE-1198-4F2F-B574-CA8CAE341642}" type="slidenum">
              <a:rPr lang="fr-FR" smtClean="0"/>
              <a:t>14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601041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57260-F276-B32E-AADC-737562EED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F5BF979-B179-2C7E-870C-4C0CBFECDD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8BF152C-FBF2-01E6-6EBC-E11DFAB705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A28F45A-6C59-BC1D-C5D6-41DE796013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B045B7DE-1198-4F2F-B574-CA8CAE341642}" type="slidenum">
              <a:rPr lang="fr-FR" smtClean="0"/>
              <a:t>15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950022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3DA2F-7542-A5C6-40DE-E50F406B8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4086438-3DE6-7FA9-AF03-D0B0D9EA84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79A5EFD6-87CE-6D0A-0DDA-4B2E863258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BCA12A6-723B-7134-93B6-750E5EA53D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B045B7DE-1198-4F2F-B574-CA8CAE341642}" type="slidenum">
              <a:rPr lang="fr-FR" smtClean="0"/>
              <a:t>16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6395924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9A70A-6B95-2D4D-2799-19195FA87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F8406E98-2DA8-9EEB-C598-5557A54B75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38AA889C-D3EB-FD17-5D3E-56A3F09D1F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D64FA51-0605-3769-A21E-7FA3BB7AEA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B045B7DE-1198-4F2F-B574-CA8CAE341642}" type="slidenum">
              <a:rPr lang="fr-FR" smtClean="0"/>
              <a:t>17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2413718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EAA2D-6571-FF36-F603-59221B22B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DBDD581-B7C0-6148-B931-D2FEED54C2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DC9781DB-B82F-3D9C-529C-8BDB1C698E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F76F99E-34F9-328B-68FE-AA89FDC0E0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B045B7DE-1198-4F2F-B574-CA8CAE341642}" type="slidenum">
              <a:rPr lang="fr-FR" smtClean="0"/>
              <a:t>18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4953359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D46A10-415D-A84F-A6A9-DFB9A6ECA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85DAAEA-648D-D7AE-ABF0-A2F8A8102D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D146DEEE-A054-5A58-366D-C1BDA9846D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DA533A0-EF5C-B755-D918-60B7F164FD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B045B7DE-1198-4F2F-B574-CA8CAE341642}" type="slidenum">
              <a:rPr lang="fr-FR" smtClean="0"/>
              <a:t>19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4440519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9C182-3966-E913-11E7-49B14A396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12CDAFAC-4F76-86CD-CD40-D516165C0F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77A42512-5C7D-768C-157C-05B034BE69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BBF4E21-114E-24CF-D958-9EBAC980BF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B045B7DE-1198-4F2F-B574-CA8CAE341642}" type="slidenum">
              <a:rPr lang="fr-FR" smtClean="0"/>
              <a:t>20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316276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A69E5-8FED-EC3D-7408-A93815E56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B692226-E49E-B16A-C0D9-C4707AE4D5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30480EF4-BDE2-0A74-737F-20972343C4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54F6A3D-D3A7-229D-5618-EB8F4B911D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B045B7DE-1198-4F2F-B574-CA8CAE341642}" type="slidenum">
              <a:rPr lang="fr-FR" smtClean="0"/>
              <a:t>21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3221054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EEE1A1-42EF-B8DE-8665-2FFF32B4E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D247618-6C48-6A70-A025-F9F6622A19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EEB13B10-AB45-D112-BF61-ABA68FBCB6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99A3A93-CECC-46B5-7F23-501EB6F9AE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B045B7DE-1198-4F2F-B574-CA8CAE341642}" type="slidenum">
              <a:rPr lang="fr-FR" smtClean="0"/>
              <a:t>22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594251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1E723-43E8-2D8D-51D8-C9001B9B7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F6B93C61-9C1F-4785-EFB5-5AB9EFB397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723E9768-2127-5EF4-BF22-D92CF5891A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8870364-096B-73F4-FDEF-B0CCD68D55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B045B7DE-1198-4F2F-B574-CA8CAE341642}" type="slidenum">
              <a:rPr lang="fr-FR" smtClean="0"/>
              <a:t>23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1031761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75A7F-A129-25BA-EF2D-6FF4D98FE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E41EF10-063A-570B-4670-8D555C6427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9533EE9-E58F-642A-8409-46C371156C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BE9B432-F2D2-F472-6C6F-48B0977C77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B045B7DE-1198-4F2F-B574-CA8CAE341642}" type="slidenum">
              <a:rPr lang="fr-FR" smtClean="0"/>
              <a:t>24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971969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carrés"/>
          <p:cNvGrpSpPr/>
          <p:nvPr/>
        </p:nvGrpSpPr>
        <p:grpSpPr>
          <a:xfrm>
            <a:off x="0" y="1135743"/>
            <a:ext cx="1622332" cy="799981"/>
            <a:chOff x="0" y="452558"/>
            <a:chExt cx="914400" cy="524182"/>
          </a:xfrm>
        </p:grpSpPr>
        <p:sp>
          <p:nvSpPr>
            <p:cNvPr id="8" name="Rectangle à coins arrondis 7"/>
            <p:cNvSpPr/>
            <p:nvPr/>
          </p:nvSpPr>
          <p:spPr>
            <a:xfrm>
              <a:off x="591671" y="452558"/>
              <a:ext cx="322729" cy="524180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 dirty="0"/>
            </a:p>
          </p:txBody>
        </p:sp>
        <p:sp>
          <p:nvSpPr>
            <p:cNvPr id="9" name="Rectangle à coins arrondis 8"/>
            <p:cNvSpPr/>
            <p:nvPr/>
          </p:nvSpPr>
          <p:spPr>
            <a:xfrm>
              <a:off x="215154" y="452558"/>
              <a:ext cx="322729" cy="524180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 dirty="0"/>
            </a:p>
          </p:txBody>
        </p:sp>
        <p:sp>
          <p:nvSpPr>
            <p:cNvPr id="10" name="Rectangle avec coins arrondis du même côté 9"/>
            <p:cNvSpPr/>
            <p:nvPr/>
          </p:nvSpPr>
          <p:spPr>
            <a:xfrm rot="5400000">
              <a:off x="-181408" y="633966"/>
              <a:ext cx="524182" cy="161366"/>
            </a:xfrm>
            <a:prstGeom prst="round2SameRect">
              <a:avLst>
                <a:gd name="adj1" fmla="val 29167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 dirty="0"/>
            </a:p>
          </p:txBody>
        </p:sp>
      </p:grpSp>
      <p:sp>
        <p:nvSpPr>
          <p:cNvPr id="2" name="Titre 1"/>
          <p:cNvSpPr>
            <a:spLocks noGrp="1"/>
          </p:cNvSpPr>
          <p:nvPr>
            <p:ph type="ctrTitle"/>
          </p:nvPr>
        </p:nvSpPr>
        <p:spPr>
          <a:xfrm>
            <a:off x="1828324" y="362396"/>
            <a:ext cx="9141619" cy="1676400"/>
          </a:xfrm>
        </p:spPr>
        <p:txBody>
          <a:bodyPr rtlCol="0">
            <a:noAutofit/>
          </a:bodyPr>
          <a:lstStyle>
            <a:lvl1pPr>
              <a:lnSpc>
                <a:spcPct val="80000"/>
              </a:lnSpc>
              <a:defRPr sz="6000"/>
            </a:lvl1pPr>
          </a:lstStyle>
          <a:p>
            <a:pPr rtl="0"/>
            <a:r>
              <a:rPr lang="fr-FR" noProof="0"/>
              <a:t>Modifiez le style du titre</a:t>
            </a:r>
            <a:endParaRPr lang="fr-FR" noProof="0" dirty="0"/>
          </a:p>
        </p:txBody>
      </p:sp>
      <p:sp>
        <p:nvSpPr>
          <p:cNvPr id="3" name="Sous-titre 2"/>
          <p:cNvSpPr>
            <a:spLocks noGrp="1"/>
          </p:cNvSpPr>
          <p:nvPr>
            <p:ph type="subTitle" idx="1"/>
          </p:nvPr>
        </p:nvSpPr>
        <p:spPr>
          <a:xfrm>
            <a:off x="1828324" y="2089595"/>
            <a:ext cx="9141619" cy="886344"/>
          </a:xfrm>
        </p:spPr>
        <p:txBody>
          <a:bodyPr rtlCol="0">
            <a:normAutofit/>
          </a:bodyPr>
          <a:lstStyle>
            <a:lvl1pPr marL="0" indent="0" algn="l">
              <a:buNone/>
              <a:defRPr sz="2800">
                <a:solidFill>
                  <a:schemeClr val="accent1">
                    <a:lumMod val="75000"/>
                  </a:schemeClr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fr-FR" noProof="0"/>
              <a:t>Modifiez le style des sous-titres du masque</a:t>
            </a:r>
            <a:endParaRPr lang="fr-FR" noProof="0" dirty="0"/>
          </a:p>
        </p:txBody>
      </p:sp>
      <p:sp>
        <p:nvSpPr>
          <p:cNvPr id="5" name="Espace réservé du pied de page 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fr-FR" noProof="0" dirty="0"/>
              <a:t>Ajouter un pied de page</a:t>
            </a:r>
          </a:p>
        </p:txBody>
      </p:sp>
      <p:sp>
        <p:nvSpPr>
          <p:cNvPr id="4" name="Espace réservé de la date 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FED7672-6A17-4383-8E11-B703B2F244DD}" type="datetime1">
              <a:rPr lang="fr-FR" noProof="0" smtClean="0"/>
              <a:t>20/01/2026</a:t>
            </a:fld>
            <a:endParaRPr lang="fr-FR" noProof="0" dirty="0"/>
          </a:p>
        </p:txBody>
      </p:sp>
      <p:sp>
        <p:nvSpPr>
          <p:cNvPr id="6" name="Espace réservé du numéro de diapositive 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C99D79-8A4B-4031-B1E0-AF26F8EDF2BC}" type="slidenum">
              <a:rPr lang="fr-FR" noProof="0" smtClean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887510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  <a:endParaRPr lang="fr-FR" noProof="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 rtl="0"/>
            <a:r>
              <a:rPr lang="fr-FR" noProof="0"/>
              <a:t>Cliquez pour modifier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  <a:endParaRPr lang="fr-FR" noProof="0" dirty="0"/>
          </a:p>
        </p:txBody>
      </p:sp>
      <p:sp>
        <p:nvSpPr>
          <p:cNvPr id="5" name="Espace réservé du pied de page 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fr-FR" noProof="0" dirty="0"/>
              <a:t>Ajouter un pied de page</a:t>
            </a:r>
          </a:p>
        </p:txBody>
      </p:sp>
      <p:sp>
        <p:nvSpPr>
          <p:cNvPr id="4" name="Espace réservé de la date 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0C5A66A-4BD8-442B-B2CE-4DDC3F185A34}" type="datetime1">
              <a:rPr lang="fr-FR" noProof="0" smtClean="0"/>
              <a:t>20/01/2026</a:t>
            </a:fld>
            <a:endParaRPr lang="fr-FR" noProof="0" dirty="0"/>
          </a:p>
        </p:txBody>
      </p:sp>
      <p:sp>
        <p:nvSpPr>
          <p:cNvPr id="6" name="Espace réservé du numéro de diapositive 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C99D79-8A4B-4031-B1E0-AF26F8EDF2BC}" type="slidenum">
              <a:rPr lang="fr-FR" noProof="0" smtClean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435150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carrés"/>
          <p:cNvGrpSpPr/>
          <p:nvPr/>
        </p:nvGrpSpPr>
        <p:grpSpPr>
          <a:xfrm>
            <a:off x="0" y="3124415"/>
            <a:ext cx="1622332" cy="805061"/>
            <a:chOff x="0" y="2343311"/>
            <a:chExt cx="1217066" cy="603796"/>
          </a:xfrm>
        </p:grpSpPr>
        <p:sp>
          <p:nvSpPr>
            <p:cNvPr id="8" name="Rectangle à coins arrondis 7"/>
            <p:cNvSpPr/>
            <p:nvPr/>
          </p:nvSpPr>
          <p:spPr>
            <a:xfrm>
              <a:off x="787514" y="2347123"/>
              <a:ext cx="429552" cy="599984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 dirty="0"/>
            </a:p>
          </p:txBody>
        </p:sp>
        <p:sp>
          <p:nvSpPr>
            <p:cNvPr id="9" name="Rectangle à coins arrondis 8"/>
            <p:cNvSpPr/>
            <p:nvPr/>
          </p:nvSpPr>
          <p:spPr>
            <a:xfrm>
              <a:off x="286370" y="2347123"/>
              <a:ext cx="429552" cy="599984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 dirty="0"/>
            </a:p>
          </p:txBody>
        </p:sp>
        <p:sp>
          <p:nvSpPr>
            <p:cNvPr id="10" name="Rectangle avec coins arrondis du même côté 9"/>
            <p:cNvSpPr/>
            <p:nvPr/>
          </p:nvSpPr>
          <p:spPr>
            <a:xfrm rot="5400000">
              <a:off x="-192604" y="2535915"/>
              <a:ext cx="599986" cy="214778"/>
            </a:xfrm>
            <a:prstGeom prst="round2SameRect">
              <a:avLst>
                <a:gd name="adj1" fmla="val 29167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 dirty="0"/>
            </a:p>
          </p:txBody>
        </p:sp>
      </p:grpSp>
      <p:grpSp>
        <p:nvGrpSpPr>
          <p:cNvPr id="19" name="graphique du bas"/>
          <p:cNvGrpSpPr/>
          <p:nvPr/>
        </p:nvGrpSpPr>
        <p:grpSpPr>
          <a:xfrm>
            <a:off x="0" y="5409216"/>
            <a:ext cx="12188825" cy="1462483"/>
            <a:chOff x="0" y="4056912"/>
            <a:chExt cx="9144000" cy="1096862"/>
          </a:xfrm>
        </p:grpSpPr>
        <p:sp>
          <p:nvSpPr>
            <p:cNvPr id="20" name="Forme libre 19"/>
            <p:cNvSpPr/>
            <p:nvPr/>
          </p:nvSpPr>
          <p:spPr bwMode="ltGray">
            <a:xfrm rot="5400000">
              <a:off x="4119794" y="119293"/>
              <a:ext cx="904412" cy="9144000"/>
            </a:xfrm>
            <a:custGeom>
              <a:avLst/>
              <a:gdLst/>
              <a:ahLst/>
              <a:cxnLst/>
              <a:rect l="l" t="t" r="r" b="b"/>
              <a:pathLst>
                <a:path w="904412" h="9144000">
                  <a:moveTo>
                    <a:pt x="0" y="0"/>
                  </a:moveTo>
                  <a:lnTo>
                    <a:pt x="904412" y="0"/>
                  </a:lnTo>
                  <a:lnTo>
                    <a:pt x="904412" y="9144000"/>
                  </a:lnTo>
                  <a:lnTo>
                    <a:pt x="391235" y="9144000"/>
                  </a:lnTo>
                  <a:cubicBezTo>
                    <a:pt x="445385" y="6730684"/>
                    <a:pt x="250230" y="1995757"/>
                    <a:pt x="0" y="0"/>
                  </a:cubicBezTo>
                  <a:close/>
                </a:path>
              </a:pathLst>
            </a:custGeom>
            <a:solidFill>
              <a:schemeClr val="tx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 dirty="0"/>
            </a:p>
          </p:txBody>
        </p:sp>
        <p:sp>
          <p:nvSpPr>
            <p:cNvPr id="21" name="Rectangle 72"/>
            <p:cNvSpPr/>
            <p:nvPr/>
          </p:nvSpPr>
          <p:spPr bwMode="ltGray">
            <a:xfrm rot="5400000">
              <a:off x="4023569" y="33343"/>
              <a:ext cx="1096862" cy="9144000"/>
            </a:xfrm>
            <a:custGeom>
              <a:avLst/>
              <a:gdLst/>
              <a:ahLst/>
              <a:cxnLst/>
              <a:rect l="l" t="t" r="r" b="b"/>
              <a:pathLst>
                <a:path w="1096862" h="9144000">
                  <a:moveTo>
                    <a:pt x="1096861" y="9136375"/>
                  </a:moveTo>
                  <a:lnTo>
                    <a:pt x="1096861" y="0"/>
                  </a:lnTo>
                  <a:lnTo>
                    <a:pt x="1096862" y="0"/>
                  </a:lnTo>
                  <a:lnTo>
                    <a:pt x="1096862" y="9136375"/>
                  </a:lnTo>
                  <a:close/>
                  <a:moveTo>
                    <a:pt x="0" y="0"/>
                  </a:moveTo>
                  <a:lnTo>
                    <a:pt x="142171" y="0"/>
                  </a:lnTo>
                  <a:cubicBezTo>
                    <a:pt x="214017" y="532804"/>
                    <a:pt x="281641" y="1260834"/>
                    <a:pt x="340913" y="2087809"/>
                  </a:cubicBezTo>
                  <a:cubicBezTo>
                    <a:pt x="492781" y="4358443"/>
                    <a:pt x="587048" y="7374964"/>
                    <a:pt x="547354" y="9144000"/>
                  </a:cubicBezTo>
                  <a:lnTo>
                    <a:pt x="452132" y="9144000"/>
                  </a:lnTo>
                  <a:cubicBezTo>
                    <a:pt x="484963" y="4670358"/>
                    <a:pt x="240277" y="2482661"/>
                    <a:pt x="0" y="0"/>
                  </a:cubicBezTo>
                  <a:close/>
                </a:path>
              </a:pathLst>
            </a:custGeom>
            <a:solidFill>
              <a:schemeClr val="tx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 lang="fr-FR" noProof="0" dirty="0"/>
            </a:p>
          </p:txBody>
        </p:sp>
      </p:grpSp>
      <p:sp>
        <p:nvSpPr>
          <p:cNvPr id="2" name="Titre 1"/>
          <p:cNvSpPr>
            <a:spLocks noGrp="1"/>
          </p:cNvSpPr>
          <p:nvPr>
            <p:ph type="title"/>
          </p:nvPr>
        </p:nvSpPr>
        <p:spPr>
          <a:xfrm>
            <a:off x="1828324" y="1932518"/>
            <a:ext cx="9141619" cy="2105367"/>
          </a:xfrm>
        </p:spPr>
        <p:txBody>
          <a:bodyPr rtlCol="0" anchor="b">
            <a:normAutofit/>
          </a:bodyPr>
          <a:lstStyle>
            <a:lvl1pPr algn="l">
              <a:defRPr sz="6000" b="0" cap="none" baseline="0"/>
            </a:lvl1pPr>
          </a:lstStyle>
          <a:p>
            <a:pPr rtl="0"/>
            <a:r>
              <a:rPr lang="fr-FR" noProof="0"/>
              <a:t>Modifiez le style du titre</a:t>
            </a:r>
            <a:endParaRPr lang="fr-FR" noProof="0" dirty="0"/>
          </a:p>
        </p:txBody>
      </p:sp>
      <p:sp>
        <p:nvSpPr>
          <p:cNvPr id="3" name="Espace réservé du texte 2"/>
          <p:cNvSpPr>
            <a:spLocks noGrp="1"/>
          </p:cNvSpPr>
          <p:nvPr>
            <p:ph type="body" idx="1"/>
          </p:nvPr>
        </p:nvSpPr>
        <p:spPr>
          <a:xfrm>
            <a:off x="1828324" y="4084264"/>
            <a:ext cx="9141619" cy="933297"/>
          </a:xfrm>
        </p:spPr>
        <p:txBody>
          <a:bodyPr rtlCol="0" anchor="t">
            <a:normAutofit/>
          </a:bodyPr>
          <a:lstStyle>
            <a:lvl1pPr marL="0" indent="0">
              <a:buNone/>
              <a:defRPr sz="2800">
                <a:solidFill>
                  <a:schemeClr val="accent1">
                    <a:lumMod val="75000"/>
                  </a:schemeClr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 noProof="0"/>
              <a:t>Cliquez pour modifier les styles du texte du masque</a:t>
            </a:r>
          </a:p>
        </p:txBody>
      </p:sp>
      <p:sp>
        <p:nvSpPr>
          <p:cNvPr id="5" name="Espace réservé du pied de page 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fr-FR" noProof="0" dirty="0"/>
              <a:t>Ajouter un pied de page</a:t>
            </a:r>
          </a:p>
        </p:txBody>
      </p:sp>
      <p:sp>
        <p:nvSpPr>
          <p:cNvPr id="4" name="Espace réservé de la date 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0B7FDAA-B5D3-4E22-A82E-02191A2150B9}" type="datetime1">
              <a:rPr lang="fr-FR" noProof="0" smtClean="0"/>
              <a:t>20/01/2026</a:t>
            </a:fld>
            <a:endParaRPr lang="fr-FR" noProof="0" dirty="0"/>
          </a:p>
        </p:txBody>
      </p:sp>
      <p:sp>
        <p:nvSpPr>
          <p:cNvPr id="6" name="Espace réservé du numéro de diapositive 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C99D79-8A4B-4031-B1E0-AF26F8EDF2BC}" type="slidenum">
              <a:rPr lang="fr-FR" noProof="0" smtClean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1435693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 1"/>
          <p:cNvSpPr>
            <a:spLocks noGrp="1"/>
          </p:cNvSpPr>
          <p:nvPr>
            <p:ph type="title"/>
          </p:nvPr>
        </p:nvSpPr>
        <p:spPr>
          <a:xfrm>
            <a:off x="1141412" y="152400"/>
            <a:ext cx="9751060" cy="1295400"/>
          </a:xfrm>
        </p:spPr>
        <p:txBody>
          <a:bodyPr rtlCol="0"/>
          <a:lstStyle/>
          <a:p>
            <a:pPr rtl="0"/>
            <a:r>
              <a:rPr lang="fr-FR" noProof="0"/>
              <a:t>Modifiez le style du titre</a:t>
            </a:r>
            <a:endParaRPr lang="fr-FR" noProof="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41412" y="1600200"/>
            <a:ext cx="4875530" cy="4572000"/>
          </a:xfrm>
        </p:spPr>
        <p:txBody>
          <a:bodyPr rtlCol="0"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fr-FR" noProof="0"/>
              <a:t>Cliquez pour modifier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  <a:endParaRPr lang="fr-FR" noProof="0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4412" y="1600200"/>
            <a:ext cx="4875530" cy="4572000"/>
          </a:xfrm>
        </p:spPr>
        <p:txBody>
          <a:bodyPr rtlCol="0"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fr-FR" noProof="0"/>
              <a:t>Cliquez pour modifier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  <a:endParaRPr lang="fr-FR" noProof="0" dirty="0"/>
          </a:p>
        </p:txBody>
      </p:sp>
      <p:sp>
        <p:nvSpPr>
          <p:cNvPr id="6" name="Espace réservé du pied de page 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fr-FR" noProof="0" dirty="0"/>
              <a:t>Ajouter un pied de page</a:t>
            </a:r>
          </a:p>
        </p:txBody>
      </p:sp>
      <p:sp>
        <p:nvSpPr>
          <p:cNvPr id="5" name="Espace réservé de la date 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ADF8559-33F4-416D-A710-49A46B99982C}" type="datetime1">
              <a:rPr lang="fr-FR" noProof="0" smtClean="0"/>
              <a:t>20/01/2026</a:t>
            </a:fld>
            <a:endParaRPr lang="fr-FR" noProof="0" dirty="0"/>
          </a:p>
        </p:txBody>
      </p:sp>
      <p:sp>
        <p:nvSpPr>
          <p:cNvPr id="7" name="Espace réservé du numéro de diapositive 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C99D79-8A4B-4031-B1E0-AF26F8EDF2BC}" type="slidenum">
              <a:rPr lang="fr-FR" noProof="0" smtClean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1297796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 1"/>
          <p:cNvSpPr>
            <a:spLocks noGrp="1"/>
          </p:cNvSpPr>
          <p:nvPr>
            <p:ph type="title"/>
          </p:nvPr>
        </p:nvSpPr>
        <p:spPr>
          <a:xfrm>
            <a:off x="1141412" y="152400"/>
            <a:ext cx="9751060" cy="1295400"/>
          </a:xfrm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fr-FR" noProof="0"/>
              <a:t>Modifiez le style du titre</a:t>
            </a:r>
            <a:endParaRPr lang="fr-FR" noProof="0" dirty="0"/>
          </a:p>
        </p:txBody>
      </p:sp>
      <p:sp>
        <p:nvSpPr>
          <p:cNvPr id="3" name="Espace réservé du texte 2"/>
          <p:cNvSpPr>
            <a:spLocks noGrp="1"/>
          </p:cNvSpPr>
          <p:nvPr>
            <p:ph type="body" idx="1"/>
          </p:nvPr>
        </p:nvSpPr>
        <p:spPr>
          <a:xfrm>
            <a:off x="1141412" y="1524000"/>
            <a:ext cx="4875530" cy="816429"/>
          </a:xfrm>
        </p:spPr>
        <p:txBody>
          <a:bodyPr rtlCol="0" anchor="ctr">
            <a:norm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 rtl="0"/>
            <a:r>
              <a:rPr lang="fr-FR" noProof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1141412" y="2413000"/>
            <a:ext cx="4875530" cy="3759199"/>
          </a:xfrm>
        </p:spPr>
        <p:txBody>
          <a:bodyPr rtlCol="0"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 rtl="0"/>
            <a:r>
              <a:rPr lang="fr-FR" noProof="0"/>
              <a:t>Cliquez pour modifier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  <a:endParaRPr lang="fr-FR" noProof="0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094412" y="1524000"/>
            <a:ext cx="4875530" cy="816429"/>
          </a:xfrm>
        </p:spPr>
        <p:txBody>
          <a:bodyPr rtlCol="0" anchor="ctr">
            <a:norm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 rtl="0"/>
            <a:r>
              <a:rPr lang="fr-FR" noProof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094412" y="2413000"/>
            <a:ext cx="4875530" cy="3759199"/>
          </a:xfrm>
        </p:spPr>
        <p:txBody>
          <a:bodyPr rtlCol="0"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 rtl="0"/>
            <a:r>
              <a:rPr lang="fr-FR" noProof="0"/>
              <a:t>Cliquez pour modifier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  <a:endParaRPr lang="fr-FR" noProof="0" dirty="0"/>
          </a:p>
        </p:txBody>
      </p:sp>
      <p:sp>
        <p:nvSpPr>
          <p:cNvPr id="8" name="Espace réservé du pied de page 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fr-FR" noProof="0" dirty="0"/>
              <a:t>Ajouter un pied de page</a:t>
            </a:r>
          </a:p>
        </p:txBody>
      </p:sp>
      <p:sp>
        <p:nvSpPr>
          <p:cNvPr id="7" name="Espace réservé de la date 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F92E5DF-51C7-4012-82D0-A6F20F8A1C3B}" type="datetime1">
              <a:rPr lang="fr-FR" noProof="0" smtClean="0"/>
              <a:t>20/01/2026</a:t>
            </a:fld>
            <a:endParaRPr lang="fr-FR" noProof="0" dirty="0"/>
          </a:p>
        </p:txBody>
      </p:sp>
      <p:sp>
        <p:nvSpPr>
          <p:cNvPr id="9" name="Espace réservé du numéro de diapositive 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C99D79-8A4B-4031-B1E0-AF26F8EDF2BC}" type="slidenum">
              <a:rPr lang="fr-FR" noProof="0" smtClean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487039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  <a:endParaRPr lang="fr-FR" noProof="0" dirty="0"/>
          </a:p>
        </p:txBody>
      </p:sp>
      <p:sp>
        <p:nvSpPr>
          <p:cNvPr id="4" name="Espace réservé du pied de page 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fr-FR" noProof="0" dirty="0"/>
              <a:t>Ajouter un pied de page</a:t>
            </a:r>
          </a:p>
        </p:txBody>
      </p:sp>
      <p:sp>
        <p:nvSpPr>
          <p:cNvPr id="3" name="Espace réservé de la date 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66353DA-E3F6-4188-A918-D5978D2DC352}" type="datetime1">
              <a:rPr lang="fr-FR" noProof="0" smtClean="0"/>
              <a:t>20/01/2026</a:t>
            </a:fld>
            <a:endParaRPr lang="fr-FR" noProof="0" dirty="0"/>
          </a:p>
        </p:txBody>
      </p:sp>
      <p:sp>
        <p:nvSpPr>
          <p:cNvPr id="5" name="Espace réservé du numéro de diapositive 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C99D79-8A4B-4031-B1E0-AF26F8EDF2BC}" type="slidenum">
              <a:rPr lang="fr-FR" noProof="0" smtClean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96903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aphique du bas"/>
          <p:cNvGrpSpPr/>
          <p:nvPr/>
        </p:nvGrpSpPr>
        <p:grpSpPr>
          <a:xfrm>
            <a:off x="0" y="5409216"/>
            <a:ext cx="12188825" cy="1462483"/>
            <a:chOff x="0" y="4056912"/>
            <a:chExt cx="9144000" cy="1096862"/>
          </a:xfrm>
        </p:grpSpPr>
        <p:sp>
          <p:nvSpPr>
            <p:cNvPr id="9" name="Forme libre 8"/>
            <p:cNvSpPr/>
            <p:nvPr/>
          </p:nvSpPr>
          <p:spPr bwMode="ltGray">
            <a:xfrm rot="5400000">
              <a:off x="4119794" y="119293"/>
              <a:ext cx="904412" cy="9144000"/>
            </a:xfrm>
            <a:custGeom>
              <a:avLst/>
              <a:gdLst/>
              <a:ahLst/>
              <a:cxnLst/>
              <a:rect l="l" t="t" r="r" b="b"/>
              <a:pathLst>
                <a:path w="904412" h="9144000">
                  <a:moveTo>
                    <a:pt x="0" y="0"/>
                  </a:moveTo>
                  <a:lnTo>
                    <a:pt x="904412" y="0"/>
                  </a:lnTo>
                  <a:lnTo>
                    <a:pt x="904412" y="9144000"/>
                  </a:lnTo>
                  <a:lnTo>
                    <a:pt x="391235" y="9144000"/>
                  </a:lnTo>
                  <a:cubicBezTo>
                    <a:pt x="445385" y="6730684"/>
                    <a:pt x="250230" y="1995757"/>
                    <a:pt x="0" y="0"/>
                  </a:cubicBezTo>
                  <a:close/>
                </a:path>
              </a:pathLst>
            </a:custGeom>
            <a:solidFill>
              <a:schemeClr val="tx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 dirty="0"/>
            </a:p>
          </p:txBody>
        </p:sp>
        <p:sp>
          <p:nvSpPr>
            <p:cNvPr id="10" name="Rectangle 72"/>
            <p:cNvSpPr/>
            <p:nvPr/>
          </p:nvSpPr>
          <p:spPr bwMode="ltGray">
            <a:xfrm rot="5400000">
              <a:off x="4023569" y="33343"/>
              <a:ext cx="1096862" cy="9144000"/>
            </a:xfrm>
            <a:custGeom>
              <a:avLst/>
              <a:gdLst/>
              <a:ahLst/>
              <a:cxnLst/>
              <a:rect l="l" t="t" r="r" b="b"/>
              <a:pathLst>
                <a:path w="1096862" h="9144000">
                  <a:moveTo>
                    <a:pt x="1096861" y="9136375"/>
                  </a:moveTo>
                  <a:lnTo>
                    <a:pt x="1096861" y="0"/>
                  </a:lnTo>
                  <a:lnTo>
                    <a:pt x="1096862" y="0"/>
                  </a:lnTo>
                  <a:lnTo>
                    <a:pt x="1096862" y="9136375"/>
                  </a:lnTo>
                  <a:close/>
                  <a:moveTo>
                    <a:pt x="0" y="0"/>
                  </a:moveTo>
                  <a:lnTo>
                    <a:pt x="142171" y="0"/>
                  </a:lnTo>
                  <a:cubicBezTo>
                    <a:pt x="214017" y="532804"/>
                    <a:pt x="281641" y="1260834"/>
                    <a:pt x="340913" y="2087809"/>
                  </a:cubicBezTo>
                  <a:cubicBezTo>
                    <a:pt x="492781" y="4358443"/>
                    <a:pt x="587048" y="7374964"/>
                    <a:pt x="547354" y="9144000"/>
                  </a:cubicBezTo>
                  <a:lnTo>
                    <a:pt x="452132" y="9144000"/>
                  </a:lnTo>
                  <a:cubicBezTo>
                    <a:pt x="484963" y="4670358"/>
                    <a:pt x="240277" y="2482661"/>
                    <a:pt x="0" y="0"/>
                  </a:cubicBezTo>
                  <a:close/>
                </a:path>
              </a:pathLst>
            </a:custGeom>
            <a:solidFill>
              <a:schemeClr val="tx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 lang="fr-FR" noProof="0" dirty="0"/>
            </a:p>
          </p:txBody>
        </p:sp>
      </p:grpSp>
      <p:sp>
        <p:nvSpPr>
          <p:cNvPr id="3" name="Espace réservé du pied de page 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fr-FR" noProof="0" dirty="0"/>
              <a:t>Ajouter un pied de page</a:t>
            </a:r>
          </a:p>
        </p:txBody>
      </p:sp>
      <p:sp>
        <p:nvSpPr>
          <p:cNvPr id="2" name="Espace réservé de la date 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27CDB5E-87EB-400A-AF0C-7B4E7074CB2E}" type="datetime1">
              <a:rPr lang="fr-FR" noProof="0" smtClean="0"/>
              <a:t>20/01/2026</a:t>
            </a:fld>
            <a:endParaRPr lang="fr-FR" noProof="0" dirty="0"/>
          </a:p>
        </p:txBody>
      </p:sp>
      <p:sp>
        <p:nvSpPr>
          <p:cNvPr id="4" name="Espace réservé du numéro de diapositive 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C99D79-8A4B-4031-B1E0-AF26F8EDF2BC}" type="slidenum">
              <a:rPr lang="fr-FR" noProof="0" smtClean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225395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 1"/>
          <p:cNvSpPr>
            <a:spLocks noGrp="1"/>
          </p:cNvSpPr>
          <p:nvPr>
            <p:ph type="title"/>
          </p:nvPr>
        </p:nvSpPr>
        <p:spPr/>
        <p:txBody>
          <a:bodyPr rtlCol="0" anchor="b">
            <a:normAutofit/>
          </a:bodyPr>
          <a:lstStyle>
            <a:lvl1pPr algn="l">
              <a:defRPr sz="3600" b="0"/>
            </a:lvl1pPr>
          </a:lstStyle>
          <a:p>
            <a:pPr rtl="0"/>
            <a:r>
              <a:rPr lang="fr-FR" noProof="0"/>
              <a:t>Modifiez le style du titre</a:t>
            </a:r>
            <a:endParaRPr lang="fr-FR" noProof="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875530" y="1600200"/>
            <a:ext cx="6094413" cy="4572000"/>
          </a:xfrm>
        </p:spPr>
        <p:txBody>
          <a:bodyPr rtlCol="0"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fr-FR" noProof="0"/>
              <a:t>Cliquez pour modifier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  <a:endParaRPr lang="fr-FR" noProof="0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218883" y="1600202"/>
            <a:ext cx="3453500" cy="4571999"/>
          </a:xfrm>
        </p:spPr>
        <p:txBody>
          <a:bodyPr rtlCol="0">
            <a:normAutofit/>
          </a:bodyPr>
          <a:lstStyle>
            <a:lvl1pPr marL="0" indent="0">
              <a:buNone/>
              <a:defRPr sz="2800">
                <a:solidFill>
                  <a:schemeClr val="accent1">
                    <a:lumMod val="75000"/>
                  </a:schemeClr>
                </a:solidFill>
              </a:defRPr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 rtl="0"/>
            <a:r>
              <a:rPr lang="fr-FR" noProof="0"/>
              <a:t>Cliquez pour modifier les styles du texte du masque</a:t>
            </a:r>
          </a:p>
        </p:txBody>
      </p:sp>
      <p:sp>
        <p:nvSpPr>
          <p:cNvPr id="6" name="Espace réservé du pied de page 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fr-FR" noProof="0" dirty="0"/>
              <a:t>Ajouter un pied de page</a:t>
            </a:r>
          </a:p>
        </p:txBody>
      </p:sp>
      <p:sp>
        <p:nvSpPr>
          <p:cNvPr id="5" name="Espace réservé de la date 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B92CBFA-02BE-4A2B-B3DF-CE42DCACD8FF}" type="datetime1">
              <a:rPr lang="fr-FR" noProof="0" smtClean="0"/>
              <a:t>20/01/2026</a:t>
            </a:fld>
            <a:endParaRPr lang="fr-FR" noProof="0" dirty="0"/>
          </a:p>
        </p:txBody>
      </p:sp>
      <p:sp>
        <p:nvSpPr>
          <p:cNvPr id="7" name="Espace réservé du numéro de diapositive 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C99D79-8A4B-4031-B1E0-AF26F8EDF2BC}" type="slidenum">
              <a:rPr lang="fr-FR" noProof="0" smtClean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483960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 1"/>
          <p:cNvSpPr>
            <a:spLocks noGrp="1"/>
          </p:cNvSpPr>
          <p:nvPr>
            <p:ph type="title"/>
          </p:nvPr>
        </p:nvSpPr>
        <p:spPr/>
        <p:txBody>
          <a:bodyPr rtlCol="0" anchor="b">
            <a:normAutofit/>
          </a:bodyPr>
          <a:lstStyle>
            <a:lvl1pPr algn="l">
              <a:defRPr sz="3600" b="0"/>
            </a:lvl1pPr>
          </a:lstStyle>
          <a:p>
            <a:pPr rtl="0"/>
            <a:r>
              <a:rPr lang="fr-FR" noProof="0"/>
              <a:t>Modifiez le style du titre</a:t>
            </a:r>
            <a:endParaRPr lang="fr-FR" noProof="0" dirty="0"/>
          </a:p>
        </p:txBody>
      </p:sp>
      <p:sp>
        <p:nvSpPr>
          <p:cNvPr id="3" name="Espace réservé d’image 2" descr="Espace réservé vide pour ajouter une image. Cliquez sur l’espace réservé et sélectionnez l’image à ajouter"/>
          <p:cNvSpPr>
            <a:spLocks noGrp="1"/>
          </p:cNvSpPr>
          <p:nvPr>
            <p:ph type="pic" idx="1"/>
          </p:nvPr>
        </p:nvSpPr>
        <p:spPr>
          <a:xfrm>
            <a:off x="1218887" y="1600200"/>
            <a:ext cx="6703850" cy="3657600"/>
          </a:xfrm>
          <a:prstGeom prst="roundRect">
            <a:avLst>
              <a:gd name="adj" fmla="val 3098"/>
            </a:avLst>
          </a:prstGeom>
        </p:spPr>
        <p:txBody>
          <a:bodyPr rtlCol="0">
            <a:normAutofit/>
          </a:bodyPr>
          <a:lstStyle>
            <a:lvl1pPr marL="0" indent="0">
              <a:buNone/>
              <a:defRPr sz="27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pPr rtl="0"/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125883" y="1600200"/>
            <a:ext cx="2844059" cy="3759200"/>
          </a:xfrm>
        </p:spPr>
        <p:txBody>
          <a:bodyPr rtlCol="0" anchor="b">
            <a:normAutofit/>
          </a:bodyPr>
          <a:lstStyle>
            <a:lvl1pPr marL="0" indent="0">
              <a:buNone/>
              <a:defRPr sz="2800">
                <a:solidFill>
                  <a:schemeClr val="accent1">
                    <a:lumMod val="75000"/>
                  </a:schemeClr>
                </a:solidFill>
              </a:defRPr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 rtl="0"/>
            <a:r>
              <a:rPr lang="fr-FR" noProof="0"/>
              <a:t>Cliquez pour modifier les styles du texte du masque</a:t>
            </a:r>
          </a:p>
        </p:txBody>
      </p:sp>
      <p:sp>
        <p:nvSpPr>
          <p:cNvPr id="6" name="Espace réservé du pied de page 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fr-FR" noProof="0" dirty="0"/>
              <a:t>Ajouter un pied de page</a:t>
            </a:r>
          </a:p>
        </p:txBody>
      </p:sp>
      <p:sp>
        <p:nvSpPr>
          <p:cNvPr id="5" name="Espace réservé de la date 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B8044B4-8DC2-481B-A751-5605C20AC4B9}" type="datetime1">
              <a:rPr lang="fr-FR" noProof="0" smtClean="0"/>
              <a:t>20/01/2026</a:t>
            </a:fld>
            <a:endParaRPr lang="fr-FR" noProof="0" dirty="0"/>
          </a:p>
        </p:txBody>
      </p:sp>
      <p:sp>
        <p:nvSpPr>
          <p:cNvPr id="7" name="Espace réservé du numéro de diapositive 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C99D79-8A4B-4031-B1E0-AF26F8EDF2BC}" type="slidenum">
              <a:rPr lang="fr-FR" noProof="0" smtClean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1442985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  <a:endParaRPr lang="fr-FR" noProof="0" dirty="0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 rtl="0"/>
            <a:r>
              <a:rPr lang="fr-FR" noProof="0"/>
              <a:t>Cliquez pour modifier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  <a:endParaRPr lang="fr-FR" noProof="0" dirty="0"/>
          </a:p>
        </p:txBody>
      </p:sp>
      <p:sp>
        <p:nvSpPr>
          <p:cNvPr id="5" name="Espace réservé du pied de page 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fr-FR" noProof="0" dirty="0"/>
              <a:t>Ajouter un pied de page</a:t>
            </a:r>
          </a:p>
        </p:txBody>
      </p:sp>
      <p:sp>
        <p:nvSpPr>
          <p:cNvPr id="4" name="Espace réservé de la date 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1450B91-7D53-40A4-B2F5-AA5E0059FF2C}" type="datetime1">
              <a:rPr lang="fr-FR" noProof="0" smtClean="0"/>
              <a:t>20/01/2026</a:t>
            </a:fld>
            <a:endParaRPr lang="fr-FR" noProof="0" dirty="0"/>
          </a:p>
        </p:txBody>
      </p:sp>
      <p:sp>
        <p:nvSpPr>
          <p:cNvPr id="6" name="Espace réservé du numéro de diapositive 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C99D79-8A4B-4031-B1E0-AF26F8EDF2BC}" type="slidenum">
              <a:rPr lang="fr-FR" noProof="0" smtClean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640825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carrés"/>
          <p:cNvGrpSpPr/>
          <p:nvPr/>
        </p:nvGrpSpPr>
        <p:grpSpPr>
          <a:xfrm rot="5400000">
            <a:off x="9583007" y="233864"/>
            <a:ext cx="1063300" cy="524046"/>
            <a:chOff x="0" y="452558"/>
            <a:chExt cx="914400" cy="524182"/>
          </a:xfrm>
        </p:grpSpPr>
        <p:sp>
          <p:nvSpPr>
            <p:cNvPr id="8" name="Rectangle à coins arrondis 7"/>
            <p:cNvSpPr/>
            <p:nvPr/>
          </p:nvSpPr>
          <p:spPr>
            <a:xfrm>
              <a:off x="591671" y="452558"/>
              <a:ext cx="322729" cy="524180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 dirty="0"/>
            </a:p>
          </p:txBody>
        </p:sp>
        <p:sp>
          <p:nvSpPr>
            <p:cNvPr id="9" name="Rectangle à coins arrondis 8"/>
            <p:cNvSpPr/>
            <p:nvPr/>
          </p:nvSpPr>
          <p:spPr>
            <a:xfrm>
              <a:off x="215154" y="452558"/>
              <a:ext cx="322729" cy="524180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 dirty="0"/>
            </a:p>
          </p:txBody>
        </p:sp>
        <p:sp>
          <p:nvSpPr>
            <p:cNvPr id="10" name="Rectangle avec coins arrondis du même côté 9"/>
            <p:cNvSpPr/>
            <p:nvPr/>
          </p:nvSpPr>
          <p:spPr>
            <a:xfrm rot="5400000">
              <a:off x="-181408" y="633966"/>
              <a:ext cx="524182" cy="161366"/>
            </a:xfrm>
            <a:prstGeom prst="round2SameRect">
              <a:avLst>
                <a:gd name="adj1" fmla="val 29167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 dirty="0"/>
            </a:p>
          </p:txBody>
        </p:sp>
      </p:grpSp>
      <p:grpSp>
        <p:nvGrpSpPr>
          <p:cNvPr id="15" name="graphique du bas"/>
          <p:cNvGrpSpPr/>
          <p:nvPr/>
        </p:nvGrpSpPr>
        <p:grpSpPr>
          <a:xfrm>
            <a:off x="0" y="5395517"/>
            <a:ext cx="12188825" cy="1462483"/>
            <a:chOff x="0" y="4046638"/>
            <a:chExt cx="9144000" cy="1096862"/>
          </a:xfrm>
        </p:grpSpPr>
        <p:sp>
          <p:nvSpPr>
            <p:cNvPr id="16" name="Forme libre 15"/>
            <p:cNvSpPr/>
            <p:nvPr/>
          </p:nvSpPr>
          <p:spPr bwMode="ltGray">
            <a:xfrm rot="5400000">
              <a:off x="4119794" y="119293"/>
              <a:ext cx="904412" cy="9144000"/>
            </a:xfrm>
            <a:custGeom>
              <a:avLst/>
              <a:gdLst/>
              <a:ahLst/>
              <a:cxnLst/>
              <a:rect l="l" t="t" r="r" b="b"/>
              <a:pathLst>
                <a:path w="904412" h="9144000">
                  <a:moveTo>
                    <a:pt x="0" y="0"/>
                  </a:moveTo>
                  <a:lnTo>
                    <a:pt x="904412" y="0"/>
                  </a:lnTo>
                  <a:lnTo>
                    <a:pt x="904412" y="9144000"/>
                  </a:lnTo>
                  <a:lnTo>
                    <a:pt x="391235" y="9144000"/>
                  </a:lnTo>
                  <a:cubicBezTo>
                    <a:pt x="445385" y="6730684"/>
                    <a:pt x="250230" y="1995757"/>
                    <a:pt x="0" y="0"/>
                  </a:cubicBezTo>
                  <a:close/>
                </a:path>
              </a:pathLst>
            </a:custGeom>
            <a:solidFill>
              <a:schemeClr val="tx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 dirty="0"/>
            </a:p>
          </p:txBody>
        </p:sp>
        <p:sp>
          <p:nvSpPr>
            <p:cNvPr id="17" name="Rectangle 72"/>
            <p:cNvSpPr/>
            <p:nvPr/>
          </p:nvSpPr>
          <p:spPr bwMode="ltGray">
            <a:xfrm rot="5400000">
              <a:off x="4023569" y="23069"/>
              <a:ext cx="1096862" cy="9144000"/>
            </a:xfrm>
            <a:custGeom>
              <a:avLst/>
              <a:gdLst/>
              <a:ahLst/>
              <a:cxnLst/>
              <a:rect l="l" t="t" r="r" b="b"/>
              <a:pathLst>
                <a:path w="1096862" h="9144000">
                  <a:moveTo>
                    <a:pt x="1096861" y="9136375"/>
                  </a:moveTo>
                  <a:lnTo>
                    <a:pt x="1096861" y="0"/>
                  </a:lnTo>
                  <a:lnTo>
                    <a:pt x="1096862" y="0"/>
                  </a:lnTo>
                  <a:lnTo>
                    <a:pt x="1096862" y="9136375"/>
                  </a:lnTo>
                  <a:close/>
                  <a:moveTo>
                    <a:pt x="0" y="0"/>
                  </a:moveTo>
                  <a:lnTo>
                    <a:pt x="142171" y="0"/>
                  </a:lnTo>
                  <a:cubicBezTo>
                    <a:pt x="214017" y="532804"/>
                    <a:pt x="281641" y="1260834"/>
                    <a:pt x="340913" y="2087809"/>
                  </a:cubicBezTo>
                  <a:cubicBezTo>
                    <a:pt x="492781" y="4358443"/>
                    <a:pt x="587048" y="7374964"/>
                    <a:pt x="547354" y="9144000"/>
                  </a:cubicBezTo>
                  <a:lnTo>
                    <a:pt x="452132" y="9144000"/>
                  </a:lnTo>
                  <a:cubicBezTo>
                    <a:pt x="484963" y="4670358"/>
                    <a:pt x="240277" y="2482661"/>
                    <a:pt x="0" y="0"/>
                  </a:cubicBezTo>
                  <a:close/>
                </a:path>
              </a:pathLst>
            </a:custGeom>
            <a:solidFill>
              <a:schemeClr val="tx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 lang="fr-FR" noProof="0" dirty="0"/>
            </a:p>
          </p:txBody>
        </p:sp>
      </p:grpSp>
      <p:sp>
        <p:nvSpPr>
          <p:cNvPr id="2" name="Titre vertical 1"/>
          <p:cNvSpPr>
            <a:spLocks noGrp="1"/>
          </p:cNvSpPr>
          <p:nvPr>
            <p:ph type="title" orient="vert"/>
          </p:nvPr>
        </p:nvSpPr>
        <p:spPr>
          <a:xfrm>
            <a:off x="9751060" y="1150514"/>
            <a:ext cx="1828324" cy="5021685"/>
          </a:xfrm>
        </p:spPr>
        <p:txBody>
          <a:bodyPr vert="eaVert" rtlCol="0"/>
          <a:lstStyle/>
          <a:p>
            <a:pPr rtl="0"/>
            <a:r>
              <a:rPr lang="fr-FR" noProof="0"/>
              <a:t>Modifiez le style du titre</a:t>
            </a:r>
            <a:endParaRPr lang="fr-FR" noProof="0" dirty="0"/>
          </a:p>
        </p:txBody>
      </p:sp>
      <p:sp>
        <p:nvSpPr>
          <p:cNvPr id="3" name="Espace réservé du texte vertical 2"/>
          <p:cNvSpPr>
            <a:spLocks noGrp="1"/>
          </p:cNvSpPr>
          <p:nvPr>
            <p:ph type="body" orient="vert" idx="1"/>
          </p:nvPr>
        </p:nvSpPr>
        <p:spPr>
          <a:xfrm>
            <a:off x="1218882" y="1150514"/>
            <a:ext cx="8227457" cy="5021685"/>
          </a:xfrm>
        </p:spPr>
        <p:txBody>
          <a:bodyPr vert="eaVert" rtlCol="0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 rtl="0"/>
            <a:r>
              <a:rPr lang="fr-FR" noProof="0"/>
              <a:t>Cliquez pour modifier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  <a:endParaRPr lang="fr-FR" noProof="0" dirty="0"/>
          </a:p>
        </p:txBody>
      </p:sp>
      <p:sp>
        <p:nvSpPr>
          <p:cNvPr id="5" name="Espace réservé du pied de page 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fr-FR" noProof="0" dirty="0"/>
              <a:t>Ajouter un pied de page</a:t>
            </a:r>
          </a:p>
        </p:txBody>
      </p:sp>
      <p:sp>
        <p:nvSpPr>
          <p:cNvPr id="4" name="Espace réservé de la date 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B681A6B-7357-4D25-8FC7-B90E847B95A8}" type="datetime1">
              <a:rPr lang="fr-FR" noProof="0" smtClean="0"/>
              <a:t>20/01/2026</a:t>
            </a:fld>
            <a:endParaRPr lang="fr-FR" noProof="0" dirty="0"/>
          </a:p>
        </p:txBody>
      </p:sp>
      <p:sp>
        <p:nvSpPr>
          <p:cNvPr id="6" name="Espace réservé du numéro de diapositive 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C99D79-8A4B-4031-B1E0-AF26F8EDF2BC}" type="slidenum">
              <a:rPr lang="fr-FR" noProof="0" smtClean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81644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que du bas"/>
          <p:cNvGrpSpPr/>
          <p:nvPr/>
        </p:nvGrpSpPr>
        <p:grpSpPr>
          <a:xfrm>
            <a:off x="0" y="5409216"/>
            <a:ext cx="12188825" cy="1462483"/>
            <a:chOff x="0" y="4056912"/>
            <a:chExt cx="9144000" cy="1096862"/>
          </a:xfrm>
        </p:grpSpPr>
        <p:sp>
          <p:nvSpPr>
            <p:cNvPr id="21" name="Forme libre 20"/>
            <p:cNvSpPr/>
            <p:nvPr/>
          </p:nvSpPr>
          <p:spPr bwMode="ltGray">
            <a:xfrm rot="5400000">
              <a:off x="4119794" y="119293"/>
              <a:ext cx="904412" cy="9144000"/>
            </a:xfrm>
            <a:custGeom>
              <a:avLst/>
              <a:gdLst/>
              <a:ahLst/>
              <a:cxnLst/>
              <a:rect l="l" t="t" r="r" b="b"/>
              <a:pathLst>
                <a:path w="904412" h="9144000">
                  <a:moveTo>
                    <a:pt x="0" y="0"/>
                  </a:moveTo>
                  <a:lnTo>
                    <a:pt x="904412" y="0"/>
                  </a:lnTo>
                  <a:lnTo>
                    <a:pt x="904412" y="9144000"/>
                  </a:lnTo>
                  <a:lnTo>
                    <a:pt x="391235" y="9144000"/>
                  </a:lnTo>
                  <a:cubicBezTo>
                    <a:pt x="445385" y="6730684"/>
                    <a:pt x="250230" y="1995757"/>
                    <a:pt x="0" y="0"/>
                  </a:cubicBezTo>
                  <a:close/>
                </a:path>
              </a:pathLst>
            </a:custGeom>
            <a:solidFill>
              <a:schemeClr val="tx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 dirty="0"/>
            </a:p>
          </p:txBody>
        </p:sp>
        <p:sp>
          <p:nvSpPr>
            <p:cNvPr id="18" name="Rectangle 72"/>
            <p:cNvSpPr/>
            <p:nvPr/>
          </p:nvSpPr>
          <p:spPr bwMode="ltGray">
            <a:xfrm rot="5400000">
              <a:off x="4023569" y="33343"/>
              <a:ext cx="1096862" cy="9144000"/>
            </a:xfrm>
            <a:custGeom>
              <a:avLst/>
              <a:gdLst/>
              <a:ahLst/>
              <a:cxnLst/>
              <a:rect l="l" t="t" r="r" b="b"/>
              <a:pathLst>
                <a:path w="1096862" h="9144000">
                  <a:moveTo>
                    <a:pt x="1096861" y="9136375"/>
                  </a:moveTo>
                  <a:lnTo>
                    <a:pt x="1096861" y="0"/>
                  </a:lnTo>
                  <a:lnTo>
                    <a:pt x="1096862" y="0"/>
                  </a:lnTo>
                  <a:lnTo>
                    <a:pt x="1096862" y="9136375"/>
                  </a:lnTo>
                  <a:close/>
                  <a:moveTo>
                    <a:pt x="0" y="0"/>
                  </a:moveTo>
                  <a:lnTo>
                    <a:pt x="142171" y="0"/>
                  </a:lnTo>
                  <a:cubicBezTo>
                    <a:pt x="214017" y="532804"/>
                    <a:pt x="281641" y="1260834"/>
                    <a:pt x="340913" y="2087809"/>
                  </a:cubicBezTo>
                  <a:cubicBezTo>
                    <a:pt x="492781" y="4358443"/>
                    <a:pt x="587048" y="7374964"/>
                    <a:pt x="547354" y="9144000"/>
                  </a:cubicBezTo>
                  <a:lnTo>
                    <a:pt x="452132" y="9144000"/>
                  </a:lnTo>
                  <a:cubicBezTo>
                    <a:pt x="484963" y="4670358"/>
                    <a:pt x="240277" y="2482661"/>
                    <a:pt x="0" y="0"/>
                  </a:cubicBezTo>
                  <a:close/>
                </a:path>
              </a:pathLst>
            </a:custGeom>
            <a:solidFill>
              <a:schemeClr val="tx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 lang="fr-FR" noProof="0" dirty="0"/>
            </a:p>
          </p:txBody>
        </p:sp>
      </p:grpSp>
      <p:grpSp>
        <p:nvGrpSpPr>
          <p:cNvPr id="7" name="carrés"/>
          <p:cNvGrpSpPr/>
          <p:nvPr/>
        </p:nvGrpSpPr>
        <p:grpSpPr>
          <a:xfrm>
            <a:off x="1" y="800551"/>
            <a:ext cx="1063023" cy="524183"/>
            <a:chOff x="0" y="452558"/>
            <a:chExt cx="914400" cy="524182"/>
          </a:xfrm>
        </p:grpSpPr>
        <p:sp>
          <p:nvSpPr>
            <p:cNvPr id="8" name="Rectangle à coins arrondis 7"/>
            <p:cNvSpPr/>
            <p:nvPr/>
          </p:nvSpPr>
          <p:spPr>
            <a:xfrm>
              <a:off x="591671" y="452558"/>
              <a:ext cx="322729" cy="524180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 dirty="0"/>
            </a:p>
          </p:txBody>
        </p:sp>
        <p:sp>
          <p:nvSpPr>
            <p:cNvPr id="9" name="Rectangle à coins arrondis 8"/>
            <p:cNvSpPr/>
            <p:nvPr/>
          </p:nvSpPr>
          <p:spPr>
            <a:xfrm>
              <a:off x="215154" y="452558"/>
              <a:ext cx="322729" cy="524180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 dirty="0"/>
            </a:p>
          </p:txBody>
        </p:sp>
        <p:sp>
          <p:nvSpPr>
            <p:cNvPr id="10" name="Rectangle avec coins arrondis du même côté 9"/>
            <p:cNvSpPr/>
            <p:nvPr/>
          </p:nvSpPr>
          <p:spPr>
            <a:xfrm rot="5400000">
              <a:off x="-181408" y="633966"/>
              <a:ext cx="524182" cy="161366"/>
            </a:xfrm>
            <a:prstGeom prst="round2SameRect">
              <a:avLst>
                <a:gd name="adj1" fmla="val 29167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 dirty="0"/>
            </a:p>
          </p:txBody>
        </p:sp>
      </p:grpSp>
      <p:sp>
        <p:nvSpPr>
          <p:cNvPr id="2" name="Espace réservé du titre 1"/>
          <p:cNvSpPr>
            <a:spLocks noGrp="1"/>
          </p:cNvSpPr>
          <p:nvPr>
            <p:ph type="title"/>
          </p:nvPr>
        </p:nvSpPr>
        <p:spPr>
          <a:xfrm>
            <a:off x="1218883" y="152400"/>
            <a:ext cx="9751060" cy="1295400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pPr rtl="0"/>
            <a:r>
              <a:rPr lang="fr-FR" noProof="0" dirty="0"/>
              <a:t>Cliquez pour modifier le style du titre du masque</a:t>
            </a:r>
          </a:p>
        </p:txBody>
      </p:sp>
      <p:sp>
        <p:nvSpPr>
          <p:cNvPr id="3" name="Espace réservé du texte 2"/>
          <p:cNvSpPr>
            <a:spLocks noGrp="1"/>
          </p:cNvSpPr>
          <p:nvPr>
            <p:ph type="body" idx="1"/>
          </p:nvPr>
        </p:nvSpPr>
        <p:spPr>
          <a:xfrm>
            <a:off x="1218883" y="1600200"/>
            <a:ext cx="9751060" cy="4572000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 rtl="0"/>
            <a:r>
              <a:rPr lang="fr-FR" noProof="0" dirty="0"/>
              <a:t>Modifiez les styles du texte du masque</a:t>
            </a:r>
          </a:p>
          <a:p>
            <a:pPr lvl="1" rtl="0"/>
            <a:r>
              <a:rPr lang="fr-FR" noProof="0" dirty="0"/>
              <a:t>Deuxième niveau</a:t>
            </a:r>
          </a:p>
          <a:p>
            <a:pPr lvl="2" rtl="0"/>
            <a:r>
              <a:rPr lang="fr-FR" noProof="0" dirty="0"/>
              <a:t>Troisième niveau</a:t>
            </a:r>
          </a:p>
          <a:p>
            <a:pPr lvl="3" rtl="0"/>
            <a:r>
              <a:rPr lang="fr-FR" noProof="0" dirty="0"/>
              <a:t>Quatrième niveau</a:t>
            </a:r>
          </a:p>
          <a:p>
            <a:pPr lvl="4" rtl="0"/>
            <a:r>
              <a:rPr lang="fr-FR" noProof="0" dirty="0"/>
              <a:t>Cinquième niveau</a:t>
            </a:r>
          </a:p>
        </p:txBody>
      </p:sp>
      <p:sp>
        <p:nvSpPr>
          <p:cNvPr id="5" name="Espace réservé du pied de page 4"/>
          <p:cNvSpPr>
            <a:spLocks noGrp="1"/>
          </p:cNvSpPr>
          <p:nvPr>
            <p:ph type="ftr" sz="quarter" idx="3"/>
          </p:nvPr>
        </p:nvSpPr>
        <p:spPr>
          <a:xfrm>
            <a:off x="1218883" y="6448425"/>
            <a:ext cx="8288401" cy="180976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pPr rtl="0"/>
            <a:r>
              <a:rPr lang="fr-FR" noProof="0" dirty="0"/>
              <a:t>Ajouter un pied de page</a:t>
            </a:r>
          </a:p>
        </p:txBody>
      </p:sp>
      <p:sp>
        <p:nvSpPr>
          <p:cNvPr id="4" name="Espace réservé de la date 3"/>
          <p:cNvSpPr>
            <a:spLocks noGrp="1"/>
          </p:cNvSpPr>
          <p:nvPr>
            <p:ph type="dt" sz="half" idx="2"/>
          </p:nvPr>
        </p:nvSpPr>
        <p:spPr>
          <a:xfrm>
            <a:off x="9547913" y="6448425"/>
            <a:ext cx="1422030" cy="180976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pPr rtl="0"/>
            <a:fld id="{01DFB95D-D541-4088-8BCE-2FF8F06A12B2}" type="datetime1">
              <a:rPr lang="fr-FR" noProof="0" smtClean="0"/>
              <a:t>20/01/2026</a:t>
            </a:fld>
            <a:endParaRPr lang="fr-FR" noProof="0" dirty="0"/>
          </a:p>
        </p:txBody>
      </p:sp>
      <p:sp>
        <p:nvSpPr>
          <p:cNvPr id="6" name="Espace réservé du numéro de diapositive 5"/>
          <p:cNvSpPr>
            <a:spLocks noGrp="1"/>
          </p:cNvSpPr>
          <p:nvPr>
            <p:ph type="sldNum" sz="quarter" idx="4"/>
          </p:nvPr>
        </p:nvSpPr>
        <p:spPr>
          <a:xfrm>
            <a:off x="11071516" y="6448425"/>
            <a:ext cx="812588" cy="180976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pPr rtl="0"/>
            <a:fld id="{34C99D79-8A4B-4031-B1E0-AF26F8EDF2BC}" type="slidenum">
              <a:rPr lang="fr-FR" noProof="0" smtClean="0"/>
              <a:pPr rtl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1782682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1218987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800"/>
        </a:spcBef>
        <a:buClr>
          <a:schemeClr val="accent1">
            <a:lumMod val="75000"/>
          </a:schemeClr>
        </a:buClr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55772" indent="-304747" algn="l" defTabSz="1218987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Font typeface="Arial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06797" indent="-30474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57822" indent="-30474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108847" indent="-30474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59872" indent="-30474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3010897" indent="-30474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61922" indent="-30474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912947" indent="-30474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-10007" y="1916832"/>
            <a:ext cx="7184540" cy="1676400"/>
          </a:xfrm>
        </p:spPr>
        <p:txBody>
          <a:bodyPr rtlCol="0"/>
          <a:lstStyle/>
          <a:p>
            <a:r>
              <a:rPr lang="fr-FR" sz="4200" b="1" dirty="0">
                <a:latin typeface="Constantia (Corps)"/>
                <a:cs typeface="Times New Roman" panose="02020603050405020304" pitchFamily="18" charset="0"/>
              </a:rPr>
              <a:t>PRODUIRE UNE ÉTUDE DE MARCHÉ AVEC R</a:t>
            </a:r>
            <a:endParaRPr lang="fr-FR" sz="4200" b="1" dirty="0">
              <a:latin typeface="Constantia (Corps)"/>
            </a:endParaRPr>
          </a:p>
        </p:txBody>
      </p:sp>
    </p:spTree>
    <p:extLst>
      <p:ext uri="{BB962C8B-B14F-4D97-AF65-F5344CB8AC3E}">
        <p14:creationId xmlns:p14="http://schemas.microsoft.com/office/powerpoint/2010/main" val="2801835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123C85-1C13-03B9-653A-C7233A990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I" dirty="0"/>
              <a:t>Sommaire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38D3394-6A40-A044-490B-5972D2C568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fr-CI" sz="2000" dirty="0"/>
              <a:t>1- Contexte du projet </a:t>
            </a:r>
          </a:p>
          <a:p>
            <a:pPr marL="0" indent="0">
              <a:buNone/>
            </a:pPr>
            <a:r>
              <a:rPr lang="fr-CI" sz="2000" dirty="0"/>
              <a:t>2- Traitement des données</a:t>
            </a:r>
          </a:p>
          <a:p>
            <a:pPr marL="0" indent="0">
              <a:buNone/>
            </a:pPr>
            <a:r>
              <a:rPr lang="fr-CI" sz="2000" dirty="0"/>
              <a:t>3- Analyse exploratoire</a:t>
            </a:r>
          </a:p>
          <a:p>
            <a:pPr marL="503237" indent="0">
              <a:buNone/>
            </a:pPr>
            <a:r>
              <a:rPr lang="fr-CI" sz="2000" dirty="0"/>
              <a:t>a) Matrice de corrélation</a:t>
            </a:r>
          </a:p>
          <a:p>
            <a:pPr marL="503237" indent="0">
              <a:buNone/>
            </a:pPr>
            <a:r>
              <a:rPr lang="fr-CI" sz="2000" dirty="0"/>
              <a:t>b) ACP 1 : Détection des </a:t>
            </a:r>
            <a:r>
              <a:rPr lang="fr-CI" sz="2000" dirty="0" err="1"/>
              <a:t>outliers</a:t>
            </a:r>
            <a:endParaRPr lang="fr-CI" sz="2000" dirty="0"/>
          </a:p>
          <a:p>
            <a:pPr marL="503237" indent="0">
              <a:buNone/>
            </a:pPr>
            <a:r>
              <a:rPr lang="fr-CI" sz="2000" dirty="0"/>
              <a:t>c) ACP 2 : Sans les </a:t>
            </a:r>
            <a:r>
              <a:rPr lang="fr-CI" sz="2000" dirty="0" err="1"/>
              <a:t>outliers</a:t>
            </a:r>
            <a:endParaRPr lang="fr-CI" sz="2000" dirty="0"/>
          </a:p>
          <a:p>
            <a:pPr marL="0" indent="0">
              <a:buNone/>
            </a:pPr>
            <a:r>
              <a:rPr lang="fr-CI" sz="2000" dirty="0"/>
              <a:t>4- Clustering</a:t>
            </a:r>
          </a:p>
          <a:p>
            <a:pPr marL="806450" indent="-303213"/>
            <a:r>
              <a:rPr lang="fr-CI" sz="2000" dirty="0"/>
              <a:t>Méthode CAH</a:t>
            </a:r>
          </a:p>
          <a:p>
            <a:pPr marL="806450" indent="-303213"/>
            <a:r>
              <a:rPr lang="fr-CI" sz="2000" dirty="0"/>
              <a:t>Méthode K-</a:t>
            </a:r>
            <a:r>
              <a:rPr lang="fr-CI" sz="2000" dirty="0" err="1"/>
              <a:t>means</a:t>
            </a:r>
            <a:endParaRPr lang="fr-CI" sz="2000" dirty="0"/>
          </a:p>
          <a:p>
            <a:pPr marL="0" indent="0">
              <a:buNone/>
            </a:pPr>
            <a:r>
              <a:rPr lang="fr-CI" sz="2000" dirty="0"/>
              <a:t>5- Conclusion et propositions de liste pays</a:t>
            </a:r>
          </a:p>
          <a:p>
            <a:pPr marL="303213" indent="-303213"/>
            <a:endParaRPr lang="fr-CI" dirty="0"/>
          </a:p>
          <a:p>
            <a:pPr marL="303213" indent="-303213"/>
            <a:endParaRPr lang="fr-CI" sz="1400" dirty="0"/>
          </a:p>
          <a:p>
            <a:endParaRPr lang="fr-CI" sz="1400" dirty="0"/>
          </a:p>
        </p:txBody>
      </p:sp>
    </p:spTree>
    <p:extLst>
      <p:ext uri="{BB962C8B-B14F-4D97-AF65-F5344CB8AC3E}">
        <p14:creationId xmlns:p14="http://schemas.microsoft.com/office/powerpoint/2010/main" val="3089716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 4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dirty="0"/>
              <a:t>1-Contexte du projet</a:t>
            </a:r>
          </a:p>
        </p:txBody>
      </p:sp>
      <p:sp>
        <p:nvSpPr>
          <p:cNvPr id="6" name="Espace réservé du contenu 5"/>
          <p:cNvSpPr>
            <a:spLocks noGrp="1"/>
          </p:cNvSpPr>
          <p:nvPr>
            <p:ph idx="1"/>
          </p:nvPr>
        </p:nvSpPr>
        <p:spPr>
          <a:xfrm>
            <a:off x="189756" y="1600200"/>
            <a:ext cx="10780187" cy="4572000"/>
          </a:xfrm>
        </p:spPr>
        <p:txBody>
          <a:bodyPr rtlCol="0"/>
          <a:lstStyle/>
          <a:p>
            <a:pPr>
              <a:lnSpc>
                <a:spcPct val="100000"/>
              </a:lnSpc>
            </a:pPr>
            <a:r>
              <a:rPr lang="fr-FR" dirty="0"/>
              <a:t>Objectif : Identifier des groupes de pays prioritaires pour exporter la volaille bio. </a:t>
            </a:r>
          </a:p>
          <a:p>
            <a:pPr>
              <a:lnSpc>
                <a:spcPct val="100000"/>
              </a:lnSpc>
            </a:pPr>
            <a:r>
              <a:rPr lang="fr-FR" dirty="0"/>
              <a:t>Périmètre : ~100 pays avec données FAO + Banque mondiale, année 2017. </a:t>
            </a:r>
          </a:p>
          <a:p>
            <a:pPr>
              <a:lnSpc>
                <a:spcPct val="100000"/>
              </a:lnSpc>
            </a:pPr>
            <a:r>
              <a:rPr lang="fr-FR" dirty="0"/>
              <a:t>Indicateurs marchés : Production, import, export, consommation de volaille par habitant, autosuffisance.</a:t>
            </a:r>
          </a:p>
          <a:p>
            <a:pPr>
              <a:lnSpc>
                <a:spcPct val="100000"/>
              </a:lnSpc>
            </a:pPr>
            <a:r>
              <a:rPr lang="fr-FR" dirty="0"/>
              <a:t>Indicateurs contexte : PIB/</a:t>
            </a:r>
            <a:r>
              <a:rPr lang="fr-FR" dirty="0" err="1"/>
              <a:t>hab</a:t>
            </a:r>
            <a:r>
              <a:rPr lang="fr-FR" dirty="0"/>
              <a:t>, urbanisation, accès à l’électricité, gouvernance (stabilité, corruption, participation).</a:t>
            </a:r>
          </a:p>
        </p:txBody>
      </p:sp>
    </p:spTree>
    <p:extLst>
      <p:ext uri="{BB962C8B-B14F-4D97-AF65-F5344CB8AC3E}">
        <p14:creationId xmlns:p14="http://schemas.microsoft.com/office/powerpoint/2010/main" val="2041341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 4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dirty="0"/>
              <a:t>2-Traitement des données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A3E0009-1F79-933F-E3F5-A6A5D24511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00200"/>
            <a:ext cx="12143084" cy="2548880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00000"/>
              </a:lnSpc>
            </a:pPr>
            <a:r>
              <a:rPr lang="fr-FR" dirty="0"/>
              <a:t>Filtres : Produits volaille, année 2017, indicateurs pertinents. </a:t>
            </a:r>
          </a:p>
          <a:p>
            <a:pPr>
              <a:lnSpc>
                <a:spcPct val="100000"/>
              </a:lnSpc>
            </a:pPr>
            <a:r>
              <a:rPr lang="fr-FR" dirty="0"/>
              <a:t>Format large, renommage clair.</a:t>
            </a:r>
          </a:p>
          <a:p>
            <a:pPr>
              <a:lnSpc>
                <a:spcPct val="100000"/>
              </a:lnSpc>
            </a:pPr>
            <a:r>
              <a:rPr lang="fr-FR" dirty="0"/>
              <a:t>Traitement des doublons : consolidation par </a:t>
            </a:r>
            <a:r>
              <a:rPr lang="fr-FR" dirty="0" err="1"/>
              <a:t>code_zone</a:t>
            </a:r>
            <a:r>
              <a:rPr lang="fr-FR" dirty="0"/>
              <a:t> → chaque pays représenté une seule fois. </a:t>
            </a:r>
          </a:p>
          <a:p>
            <a:pPr>
              <a:lnSpc>
                <a:spcPct val="100000"/>
              </a:lnSpc>
            </a:pPr>
            <a:r>
              <a:rPr lang="fr-FR" dirty="0"/>
              <a:t>Jointure Banque mondiale (PIB/</a:t>
            </a:r>
            <a:r>
              <a:rPr lang="fr-FR" dirty="0" err="1"/>
              <a:t>hab</a:t>
            </a:r>
            <a:r>
              <a:rPr lang="fr-FR" dirty="0"/>
              <a:t>, urbanisation, électricité, gouvernance).</a:t>
            </a:r>
          </a:p>
          <a:p>
            <a:pPr>
              <a:lnSpc>
                <a:spcPct val="100000"/>
              </a:lnSpc>
            </a:pPr>
            <a:r>
              <a:rPr lang="fr-CI" dirty="0"/>
              <a:t>Variables centrées-réduites -&gt;Poids égal dans l’ACP.</a:t>
            </a:r>
          </a:p>
        </p:txBody>
      </p:sp>
      <p:pic>
        <p:nvPicPr>
          <p:cNvPr id="6" name="Image 5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256EDB79-F475-95BD-3C20-96DE6D1244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542" y="4148220"/>
            <a:ext cx="10440000" cy="2509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41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1412" y="152400"/>
            <a:ext cx="10929664" cy="1295400"/>
          </a:xfrm>
        </p:spPr>
        <p:txBody>
          <a:bodyPr rtlCol="0"/>
          <a:lstStyle/>
          <a:p>
            <a:r>
              <a:rPr lang="fr-CI" dirty="0"/>
              <a:t>3-Analyse exploratoire </a:t>
            </a:r>
            <a:br>
              <a:rPr lang="fr-CI" dirty="0"/>
            </a:br>
            <a:r>
              <a:rPr lang="fr-CI" dirty="0"/>
              <a:t>a)Matrice de corrélation</a:t>
            </a:r>
            <a:endParaRPr lang="fr-FR" dirty="0"/>
          </a:p>
        </p:txBody>
      </p:sp>
      <p:sp>
        <p:nvSpPr>
          <p:cNvPr id="6" name="Espace réservé du contenu 5"/>
          <p:cNvSpPr>
            <a:spLocks noGrp="1"/>
          </p:cNvSpPr>
          <p:nvPr>
            <p:ph sz="half" idx="1"/>
          </p:nvPr>
        </p:nvSpPr>
        <p:spPr>
          <a:xfrm>
            <a:off x="189756" y="1447801"/>
            <a:ext cx="11706508" cy="1405136"/>
          </a:xfrm>
        </p:spPr>
        <p:txBody>
          <a:bodyPr rtlCol="0"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fr-FR" sz="2400" dirty="0"/>
              <a:t>Suppression des variables redondantes (</a:t>
            </a:r>
            <a:r>
              <a:rPr lang="fr-FR" sz="2400" dirty="0" err="1"/>
              <a:t>prod_qte</a:t>
            </a:r>
            <a:r>
              <a:rPr lang="fr-FR" sz="2400" dirty="0"/>
              <a:t>, </a:t>
            </a:r>
            <a:r>
              <a:rPr lang="fr-FR" sz="2400" dirty="0" err="1"/>
              <a:t>efficacite_gouv</a:t>
            </a:r>
            <a:r>
              <a:rPr lang="fr-FR" sz="2400" dirty="0"/>
              <a:t>, </a:t>
            </a:r>
            <a:r>
              <a:rPr lang="fr-FR" sz="2400" dirty="0" err="1"/>
              <a:t>qualite_reg</a:t>
            </a:r>
            <a:r>
              <a:rPr lang="fr-FR" sz="2400" dirty="0"/>
              <a:t>).</a:t>
            </a:r>
          </a:p>
          <a:p>
            <a:pPr>
              <a:lnSpc>
                <a:spcPct val="100000"/>
              </a:lnSpc>
            </a:pPr>
            <a:r>
              <a:rPr lang="fr-FR" sz="2400" dirty="0"/>
              <a:t>Conservation de 13 indicateurs complémentaires : Marché volaille, dépendance, développement, structure, gouvernance.</a:t>
            </a:r>
          </a:p>
        </p:txBody>
      </p:sp>
      <p:pic>
        <p:nvPicPr>
          <p:cNvPr id="5" name="Image 4" descr="Une image contenant texte, capture d’écran, Police, menu&#10;&#10;Le contenu généré par l’IA peut être incorrect.">
            <a:extLst>
              <a:ext uri="{FF2B5EF4-FFF2-40B4-BE49-F238E27FC236}">
                <a16:creationId xmlns:a16="http://schemas.microsoft.com/office/drawing/2014/main" id="{ABBB2350-7BC4-BCC7-32C3-3DEA2B2170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180" y="2825379"/>
            <a:ext cx="6233900" cy="1800000"/>
          </a:xfrm>
          <a:prstGeom prst="rect">
            <a:avLst/>
          </a:prstGeom>
        </p:spPr>
      </p:pic>
      <p:pic>
        <p:nvPicPr>
          <p:cNvPr id="8" name="Image 7" descr="Une image contenant texte, capture d’écran, Police, menu&#10;&#10;Le contenu généré par l’IA peut être incorrect.">
            <a:extLst>
              <a:ext uri="{FF2B5EF4-FFF2-40B4-BE49-F238E27FC236}">
                <a16:creationId xmlns:a16="http://schemas.microsoft.com/office/drawing/2014/main" id="{67CB020A-1FE1-787E-C3D0-C3343B69B5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7180" y="4725144"/>
            <a:ext cx="6224398" cy="1800000"/>
          </a:xfrm>
          <a:prstGeom prst="rect">
            <a:avLst/>
          </a:prstGeom>
        </p:spPr>
      </p:pic>
      <p:pic>
        <p:nvPicPr>
          <p:cNvPr id="9" name="Image 8" descr="Une image contenant texte, capture d’écran, menu, Police&#10;&#10;Le contenu généré par l’IA peut être incorrect.">
            <a:extLst>
              <a:ext uri="{FF2B5EF4-FFF2-40B4-BE49-F238E27FC236}">
                <a16:creationId xmlns:a16="http://schemas.microsoft.com/office/drawing/2014/main" id="{A881E18D-59A1-C196-B801-B70247B9ED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4911" y="3455379"/>
            <a:ext cx="4619812" cy="23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665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E9C69-7B24-D4A1-C979-E939E5557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404A21-F8D1-BD61-8ADE-7C62B9A85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1" y="152400"/>
            <a:ext cx="11047413" cy="1295400"/>
          </a:xfrm>
        </p:spPr>
        <p:txBody>
          <a:bodyPr rtlCol="0">
            <a:normAutofit fontScale="90000"/>
          </a:bodyPr>
          <a:lstStyle/>
          <a:p>
            <a:pPr rtl="0"/>
            <a:r>
              <a:rPr lang="fr-FR" spc="-50" dirty="0"/>
              <a:t>3-Analyse exploratoire </a:t>
            </a:r>
            <a:br>
              <a:rPr lang="fr-FR" spc="-50" dirty="0"/>
            </a:br>
            <a:r>
              <a:rPr lang="fr-FR" spc="-50" dirty="0"/>
              <a:t>b) ACP1 : Détection des </a:t>
            </a:r>
            <a:r>
              <a:rPr lang="fr-FR" spc="-50" dirty="0" err="1"/>
              <a:t>outliers</a:t>
            </a:r>
            <a:br>
              <a:rPr lang="fr-FR" spc="-50" dirty="0"/>
            </a:br>
            <a:r>
              <a:rPr lang="fr-FR" sz="1600" i="1" spc="-50" dirty="0"/>
              <a:t>Choix du nombre de composantes et des axes</a:t>
            </a:r>
            <a:endParaRPr lang="fr-FR" i="1" spc="-5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920566A-40C2-1D8C-7555-A0ECE0B415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35837" y="1600200"/>
            <a:ext cx="11619215" cy="1295400"/>
          </a:xfrm>
        </p:spPr>
        <p:txBody>
          <a:bodyPr rtlCol="0">
            <a:normAutofit/>
          </a:bodyPr>
          <a:lstStyle/>
          <a:p>
            <a:pPr>
              <a:lnSpc>
                <a:spcPct val="100000"/>
              </a:lnSpc>
            </a:pPr>
            <a:r>
              <a:rPr lang="fr-FR" dirty="0"/>
              <a:t>D’après le diagramme des éboulis, 5 composantes retenues; interprétation centrée sur les 4 premiers axes (~65 % de la variance).</a:t>
            </a:r>
          </a:p>
        </p:txBody>
      </p:sp>
      <p:pic>
        <p:nvPicPr>
          <p:cNvPr id="4" name="Image 3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0D82B681-521E-86DC-E32E-6AAC312EA0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9" y="3501008"/>
            <a:ext cx="5960543" cy="2196000"/>
          </a:xfrm>
          <a:prstGeom prst="rect">
            <a:avLst/>
          </a:prstGeom>
        </p:spPr>
      </p:pic>
      <p:pic>
        <p:nvPicPr>
          <p:cNvPr id="5" name="Image 4" descr="Une image contenant texte, Tracé, diagramme, ligne&#10;&#10;Le contenu généré par l’IA peut être incorrect.">
            <a:extLst>
              <a:ext uri="{FF2B5EF4-FFF2-40B4-BE49-F238E27FC236}">
                <a16:creationId xmlns:a16="http://schemas.microsoft.com/office/drawing/2014/main" id="{C8C8D00A-AAF3-7277-2032-EA28A80FF9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6225" y="2593140"/>
            <a:ext cx="6150640" cy="4011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746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5B59C-2A2B-0937-9AC7-332129746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D74B062-0023-2F9D-D049-2FACE1BB0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1" y="152400"/>
            <a:ext cx="11047413" cy="1295400"/>
          </a:xfrm>
        </p:spPr>
        <p:txBody>
          <a:bodyPr rtlCol="0">
            <a:normAutofit fontScale="90000"/>
          </a:bodyPr>
          <a:lstStyle/>
          <a:p>
            <a:r>
              <a:rPr lang="fr-FR" spc="-50" dirty="0"/>
              <a:t>3-Analyse exploratoire </a:t>
            </a:r>
            <a:br>
              <a:rPr lang="fr-FR" spc="-50" dirty="0"/>
            </a:br>
            <a:r>
              <a:rPr lang="fr-FR" spc="-50" dirty="0"/>
              <a:t>b) ACP1 : Détection des </a:t>
            </a:r>
            <a:r>
              <a:rPr lang="fr-FR" spc="-50" dirty="0" err="1"/>
              <a:t>outliers</a:t>
            </a:r>
            <a:br>
              <a:rPr lang="fr-FR" spc="-50" dirty="0"/>
            </a:br>
            <a:r>
              <a:rPr lang="fr-FR" sz="1600" i="1" spc="-50" dirty="0"/>
              <a:t>Cercle de corrélation Dim1-Dim2</a:t>
            </a:r>
            <a:endParaRPr lang="fr-FR" i="1" spc="-5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07DE092-AE1B-344E-3E43-C2DC84A4B5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61764" y="1600200"/>
            <a:ext cx="5112568" cy="4853136"/>
          </a:xfrm>
        </p:spPr>
        <p:txBody>
          <a:bodyPr rtlCol="0"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fr-FR" dirty="0"/>
              <a:t>Dim1 : droite = Pays développés, bien gouvernés, urbanisés, forte consommation/échanges de volaille.</a:t>
            </a:r>
          </a:p>
          <a:p>
            <a:pPr>
              <a:lnSpc>
                <a:spcPct val="120000"/>
              </a:lnSpc>
            </a:pPr>
            <a:r>
              <a:rPr lang="fr-FR" dirty="0"/>
              <a:t>Dim1 : gauche = Pays moins développés, gouvernance plus fragile, filière volaille peu structurée.</a:t>
            </a:r>
          </a:p>
          <a:p>
            <a:pPr>
              <a:lnSpc>
                <a:spcPct val="120000"/>
              </a:lnSpc>
            </a:pPr>
            <a:r>
              <a:rPr lang="fr-FR" dirty="0"/>
              <a:t>Dim2 : haut = Grands pays de volume, volaille centrale, autosuffisance recherchée.</a:t>
            </a:r>
          </a:p>
          <a:p>
            <a:pPr>
              <a:lnSpc>
                <a:spcPct val="120000"/>
              </a:lnSpc>
            </a:pPr>
            <a:r>
              <a:rPr lang="fr-FR" dirty="0"/>
              <a:t>Dim2 : bas = Volaille moins importante dans l’alimentation.</a:t>
            </a:r>
          </a:p>
        </p:txBody>
      </p:sp>
      <p:pic>
        <p:nvPicPr>
          <p:cNvPr id="7" name="Image 6" descr="Une image contenant texte, diagramme, ligne, Tracé&#10;&#10;Le contenu généré par l’IA peut être incorrect.">
            <a:extLst>
              <a:ext uri="{FF2B5EF4-FFF2-40B4-BE49-F238E27FC236}">
                <a16:creationId xmlns:a16="http://schemas.microsoft.com/office/drawing/2014/main" id="{FC6D025C-BF00-6326-3EFA-51AA6E35A3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380" y="1447800"/>
            <a:ext cx="5839640" cy="5134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153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160149-4B79-BDD6-5A9B-318A28CAD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7D7F971-7030-D2C1-C2B4-89034ACDD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1" y="152400"/>
            <a:ext cx="11047413" cy="1295400"/>
          </a:xfrm>
        </p:spPr>
        <p:txBody>
          <a:bodyPr rtlCol="0">
            <a:normAutofit fontScale="90000"/>
          </a:bodyPr>
          <a:lstStyle/>
          <a:p>
            <a:r>
              <a:rPr lang="fr-FR" spc="-50" dirty="0"/>
              <a:t>3-Analyse exploratoire </a:t>
            </a:r>
            <a:br>
              <a:rPr lang="fr-FR" spc="-50" dirty="0"/>
            </a:br>
            <a:r>
              <a:rPr lang="fr-FR" spc="-50" dirty="0"/>
              <a:t>b) ACP1 : Détection des </a:t>
            </a:r>
            <a:r>
              <a:rPr lang="fr-FR" spc="-50" dirty="0" err="1"/>
              <a:t>outliers</a:t>
            </a:r>
            <a:br>
              <a:rPr lang="fr-FR" spc="-50" dirty="0"/>
            </a:br>
            <a:r>
              <a:rPr lang="fr-FR" sz="1600" i="1" spc="-50" dirty="0"/>
              <a:t>Cercle de corrélation Dim3-Dim4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09A3FC9-08CF-36EE-A711-DE8DAF819A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89756" y="1600200"/>
            <a:ext cx="5184576" cy="4709120"/>
          </a:xfrm>
        </p:spPr>
        <p:txBody>
          <a:bodyPr rtlCol="0">
            <a:normAutofit/>
          </a:bodyPr>
          <a:lstStyle/>
          <a:p>
            <a:pPr>
              <a:lnSpc>
                <a:spcPct val="100000"/>
              </a:lnSpc>
            </a:pPr>
            <a:r>
              <a:rPr lang="fr-FR" dirty="0"/>
              <a:t>Dim3 : oppose les pays très importateurs de volaille (droite) aux pays plus indépendants vis-à-vis des importations (gauche).</a:t>
            </a:r>
          </a:p>
          <a:p>
            <a:pPr>
              <a:lnSpc>
                <a:spcPct val="100000"/>
              </a:lnSpc>
            </a:pPr>
            <a:r>
              <a:rPr lang="fr-FR" dirty="0"/>
              <a:t>Dim4 : nuance le degré d’indépendance (bas = forte indépendance, haut = moindre indépendance).</a:t>
            </a:r>
          </a:p>
        </p:txBody>
      </p:sp>
      <p:pic>
        <p:nvPicPr>
          <p:cNvPr id="5" name="Image 4" descr="Une image contenant texte, diagramme, capture d’écran, ligne&#10;&#10;Le contenu généré par l’IA peut être incorrect.">
            <a:extLst>
              <a:ext uri="{FF2B5EF4-FFF2-40B4-BE49-F238E27FC236}">
                <a16:creationId xmlns:a16="http://schemas.microsoft.com/office/drawing/2014/main" id="{1A3F321C-3E37-7993-4DCF-250A2ED772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380" y="1599487"/>
            <a:ext cx="5820587" cy="5106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307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 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r>
              <a:rPr lang="fr-FR" spc="-50" dirty="0"/>
              <a:t>3-Analyse exploratoire </a:t>
            </a:r>
            <a:br>
              <a:rPr lang="fr-FR" spc="-50" dirty="0"/>
            </a:br>
            <a:r>
              <a:rPr lang="fr-FR" spc="-50" dirty="0"/>
              <a:t>b) ACP1 : Détection des </a:t>
            </a:r>
            <a:r>
              <a:rPr lang="fr-FR" spc="-50" dirty="0" err="1"/>
              <a:t>outliers</a:t>
            </a:r>
            <a:br>
              <a:rPr lang="fr-FR" dirty="0"/>
            </a:br>
            <a:r>
              <a:rPr lang="fr-FR" sz="1600" i="1" dirty="0"/>
              <a:t>Matrice dimensions/variables</a:t>
            </a:r>
          </a:p>
        </p:txBody>
      </p:sp>
      <p:sp>
        <p:nvSpPr>
          <p:cNvPr id="13" name="Espace réservé du texte 12"/>
          <p:cNvSpPr>
            <a:spLocks noGrp="1"/>
          </p:cNvSpPr>
          <p:nvPr>
            <p:ph type="body" sz="quarter" idx="3"/>
          </p:nvPr>
        </p:nvSpPr>
        <p:spPr>
          <a:xfrm>
            <a:off x="333772" y="1596571"/>
            <a:ext cx="5544616" cy="4784757"/>
          </a:xfrm>
        </p:spPr>
        <p:txBody>
          <a:bodyPr rtlCol="0">
            <a:normAutofit fontScale="77500" lnSpcReduction="20000"/>
          </a:bodyPr>
          <a:lstStyle/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fr-FR" b="1" dirty="0">
                <a:solidFill>
                  <a:schemeClr val="tx1"/>
                </a:solidFill>
              </a:rPr>
              <a:t>Dim1</a:t>
            </a:r>
            <a:r>
              <a:rPr lang="fr-FR" dirty="0">
                <a:solidFill>
                  <a:schemeClr val="tx1"/>
                </a:solidFill>
              </a:rPr>
              <a:t> : Gouvernance, urbanisation, accès électricité, marchés volaille premium.</a:t>
            </a:r>
          </a:p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fr-FR" b="1" dirty="0">
                <a:solidFill>
                  <a:schemeClr val="tx1"/>
                </a:solidFill>
              </a:rPr>
              <a:t>Dim2</a:t>
            </a:r>
            <a:r>
              <a:rPr lang="fr-FR" dirty="0">
                <a:solidFill>
                  <a:schemeClr val="tx1"/>
                </a:solidFill>
              </a:rPr>
              <a:t> : Taille du marché alimentaire, volumes, population totale.</a:t>
            </a:r>
          </a:p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fr-FR" b="1" dirty="0">
                <a:solidFill>
                  <a:schemeClr val="tx1"/>
                </a:solidFill>
              </a:rPr>
              <a:t>Dim3</a:t>
            </a:r>
            <a:r>
              <a:rPr lang="fr-FR" dirty="0">
                <a:solidFill>
                  <a:schemeClr val="tx1"/>
                </a:solidFill>
              </a:rPr>
              <a:t> : Dépendance aux importations de volaille vs autosuffisance.</a:t>
            </a:r>
          </a:p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fr-FR" b="1" dirty="0">
                <a:solidFill>
                  <a:schemeClr val="tx1"/>
                </a:solidFill>
              </a:rPr>
              <a:t>Dim4</a:t>
            </a:r>
            <a:r>
              <a:rPr lang="fr-FR" dirty="0">
                <a:solidFill>
                  <a:schemeClr val="tx1"/>
                </a:solidFill>
              </a:rPr>
              <a:t> : Niveau de développement économique et infrastructures.</a:t>
            </a:r>
          </a:p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fr-FR" b="1" dirty="0">
                <a:solidFill>
                  <a:schemeClr val="tx1"/>
                </a:solidFill>
              </a:rPr>
              <a:t>Dim5</a:t>
            </a:r>
            <a:r>
              <a:rPr lang="fr-FR" dirty="0">
                <a:solidFill>
                  <a:schemeClr val="tx1"/>
                </a:solidFill>
              </a:rPr>
              <a:t> : Équilibre fin production / consommation dans la filière volaille.</a:t>
            </a:r>
          </a:p>
        </p:txBody>
      </p:sp>
      <p:pic>
        <p:nvPicPr>
          <p:cNvPr id="3" name="Image 2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9CC3047F-8189-AEA5-7ECC-4EA6D26C54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7375" y="2492896"/>
            <a:ext cx="5672258" cy="2673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628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 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r>
              <a:rPr lang="fr-FR" spc="-50" dirty="0"/>
              <a:t>3-Analyse exploratoire </a:t>
            </a:r>
            <a:br>
              <a:rPr lang="fr-FR" spc="-50" dirty="0"/>
            </a:br>
            <a:r>
              <a:rPr lang="fr-FR" spc="-50" dirty="0"/>
              <a:t>b) ACP1 : Détection des </a:t>
            </a:r>
            <a:r>
              <a:rPr lang="fr-FR" spc="-50" dirty="0" err="1"/>
              <a:t>outliers</a:t>
            </a:r>
            <a:br>
              <a:rPr lang="fr-FR" dirty="0"/>
            </a:br>
            <a:r>
              <a:rPr lang="fr-FR" sz="1600" i="1" dirty="0"/>
              <a:t>Plan factoriel Dim1-Dim2</a:t>
            </a:r>
          </a:p>
        </p:txBody>
      </p:sp>
      <p:sp>
        <p:nvSpPr>
          <p:cNvPr id="5" name="Espace réservé du texte 12">
            <a:extLst>
              <a:ext uri="{FF2B5EF4-FFF2-40B4-BE49-F238E27FC236}">
                <a16:creationId xmlns:a16="http://schemas.microsoft.com/office/drawing/2014/main" id="{9AA82D1A-230F-192E-AB12-E6C30EB7DB48}"/>
              </a:ext>
            </a:extLst>
          </p:cNvPr>
          <p:cNvSpPr txBox="1">
            <a:spLocks/>
          </p:cNvSpPr>
          <p:nvPr/>
        </p:nvSpPr>
        <p:spPr>
          <a:xfrm>
            <a:off x="261764" y="1596571"/>
            <a:ext cx="4608512" cy="4784757"/>
          </a:xfrm>
          <a:prstGeom prst="rect">
            <a:avLst/>
          </a:prstGeom>
        </p:spPr>
        <p:txBody>
          <a:bodyPr rtlCol="0">
            <a:normAutofit fontScale="62500" lnSpcReduction="20000"/>
          </a:bodyPr>
          <a:lstStyle>
            <a:lvl1pPr marL="304747" indent="-304747" algn="l" defTabSz="1218987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>
                  <a:lumMod val="75000"/>
                </a:schemeClr>
              </a:buClr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5772" indent="-304747" algn="l" defTabSz="1218987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6797" indent="-30474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822" indent="-30474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08847" indent="-30474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59872" indent="-30474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10897" indent="-30474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61922" indent="-30474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12947" indent="-30474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20000"/>
              </a:lnSpc>
            </a:pPr>
            <a:r>
              <a:rPr lang="fr-FR" b="1" dirty="0"/>
              <a:t>Droite (Dim1+)</a:t>
            </a:r>
            <a:r>
              <a:rPr lang="fr-FR" dirty="0"/>
              <a:t> : Pays développés, bien gouvernés, urbains, accès électricité.</a:t>
            </a:r>
          </a:p>
          <a:p>
            <a:pPr marL="457200" indent="-457200">
              <a:lnSpc>
                <a:spcPct val="120000"/>
              </a:lnSpc>
            </a:pPr>
            <a:r>
              <a:rPr lang="fr-FR" b="1" dirty="0"/>
              <a:t>Gauche (Dim1−)</a:t>
            </a:r>
            <a:r>
              <a:rPr lang="fr-FR" dirty="0"/>
              <a:t> : Pays en développement, gouvernance plus fragile, forte ruralité.</a:t>
            </a:r>
          </a:p>
          <a:p>
            <a:pPr marL="457200" indent="-457200">
              <a:lnSpc>
                <a:spcPct val="120000"/>
              </a:lnSpc>
            </a:pPr>
            <a:r>
              <a:rPr lang="fr-FR" b="1" dirty="0"/>
              <a:t>Haut (Dim2+)</a:t>
            </a:r>
            <a:r>
              <a:rPr lang="fr-FR" dirty="0"/>
              <a:t> : Volaille très importante dans l’alimentation, marchés de volume.</a:t>
            </a:r>
          </a:p>
          <a:p>
            <a:pPr marL="457200" indent="-457200">
              <a:lnSpc>
                <a:spcPct val="120000"/>
              </a:lnSpc>
            </a:pPr>
            <a:r>
              <a:rPr lang="fr-FR" b="1" dirty="0"/>
              <a:t>Bas (Dim2−)</a:t>
            </a:r>
            <a:r>
              <a:rPr lang="fr-FR" dirty="0"/>
              <a:t> : Volaille encore secondaire, consommation plus faible.</a:t>
            </a:r>
          </a:p>
          <a:p>
            <a:pPr marL="457200" indent="-457200">
              <a:lnSpc>
                <a:spcPct val="120000"/>
              </a:lnSpc>
            </a:pPr>
            <a:r>
              <a:rPr lang="fr-FR" b="1" dirty="0"/>
              <a:t>Extrêmes droite/haut</a:t>
            </a:r>
            <a:r>
              <a:rPr lang="fr-FR" dirty="0"/>
              <a:t> : États-Unis, Brésil, Chine2, pays prioritaires premium.</a:t>
            </a:r>
          </a:p>
        </p:txBody>
      </p:sp>
      <p:pic>
        <p:nvPicPr>
          <p:cNvPr id="7" name="Image 6" descr="Une image contenant texte, diagramme, lign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D111EBF9-EE7B-3AF1-A389-753AE2E6EC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0358" y="1596571"/>
            <a:ext cx="6916703" cy="4424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839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713F2-2866-3D3D-E6CC-C19463610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 1">
            <a:extLst>
              <a:ext uri="{FF2B5EF4-FFF2-40B4-BE49-F238E27FC236}">
                <a16:creationId xmlns:a16="http://schemas.microsoft.com/office/drawing/2014/main" id="{EA31C53B-FB45-D801-2FA5-F8B12505E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r>
              <a:rPr lang="fr-FR" spc="-50" dirty="0"/>
              <a:t>3-Analyse exploratoire </a:t>
            </a:r>
            <a:br>
              <a:rPr lang="fr-FR" spc="-50" dirty="0"/>
            </a:br>
            <a:r>
              <a:rPr lang="fr-FR" spc="-50" dirty="0"/>
              <a:t>b) ACP1 : Détection des </a:t>
            </a:r>
            <a:r>
              <a:rPr lang="fr-FR" spc="-50" dirty="0" err="1"/>
              <a:t>outliers</a:t>
            </a:r>
            <a:br>
              <a:rPr lang="fr-FR" dirty="0"/>
            </a:br>
            <a:r>
              <a:rPr lang="fr-FR" sz="1600" i="1" dirty="0"/>
              <a:t>Plan factoriel Dim3-Dim4</a:t>
            </a:r>
          </a:p>
        </p:txBody>
      </p:sp>
      <p:sp>
        <p:nvSpPr>
          <p:cNvPr id="5" name="Espace réservé du texte 12">
            <a:extLst>
              <a:ext uri="{FF2B5EF4-FFF2-40B4-BE49-F238E27FC236}">
                <a16:creationId xmlns:a16="http://schemas.microsoft.com/office/drawing/2014/main" id="{A8D145A5-78CE-91A8-22DF-42D574FADA7B}"/>
              </a:ext>
            </a:extLst>
          </p:cNvPr>
          <p:cNvSpPr txBox="1">
            <a:spLocks/>
          </p:cNvSpPr>
          <p:nvPr/>
        </p:nvSpPr>
        <p:spPr>
          <a:xfrm>
            <a:off x="261764" y="1596571"/>
            <a:ext cx="4320480" cy="4784757"/>
          </a:xfrm>
          <a:prstGeom prst="rect">
            <a:avLst/>
          </a:prstGeom>
        </p:spPr>
        <p:txBody>
          <a:bodyPr rtlCol="0">
            <a:normAutofit fontScale="85000" lnSpcReduction="20000"/>
          </a:bodyPr>
          <a:lstStyle>
            <a:lvl1pPr marL="304747" indent="-304747" algn="l" defTabSz="1218987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>
                  <a:lumMod val="75000"/>
                </a:schemeClr>
              </a:buClr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5772" indent="-304747" algn="l" defTabSz="1218987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6797" indent="-30474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822" indent="-30474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08847" indent="-30474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59872" indent="-30474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10897" indent="-30474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61922" indent="-30474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12947" indent="-30474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10000"/>
              </a:lnSpc>
            </a:pPr>
            <a:r>
              <a:rPr lang="fr-FR" b="1" dirty="0"/>
              <a:t>Droite (Dim3+) </a:t>
            </a:r>
            <a:r>
              <a:rPr lang="fr-FR" dirty="0"/>
              <a:t>: Pays très insérés dans le commerce de volaille, importations / indépendance élevées.</a:t>
            </a:r>
          </a:p>
          <a:p>
            <a:pPr marL="457200" indent="-457200">
              <a:lnSpc>
                <a:spcPct val="110000"/>
              </a:lnSpc>
            </a:pPr>
            <a:r>
              <a:rPr lang="fr-FR" b="1" dirty="0"/>
              <a:t>Gauche (Dim3−) </a:t>
            </a:r>
            <a:r>
              <a:rPr lang="fr-FR" dirty="0"/>
              <a:t>: Pays moins intégrés, marchés surtout domestiques.</a:t>
            </a:r>
          </a:p>
          <a:p>
            <a:pPr marL="457200" indent="-457200">
              <a:lnSpc>
                <a:spcPct val="110000"/>
              </a:lnSpc>
            </a:pPr>
            <a:r>
              <a:rPr lang="fr-FR" b="1" dirty="0"/>
              <a:t>Haut (Dim4+) </a:t>
            </a:r>
            <a:r>
              <a:rPr lang="fr-FR" dirty="0"/>
              <a:t>: Pays au PIB par habitant plus élevé, forte capacité d’achat.</a:t>
            </a:r>
          </a:p>
          <a:p>
            <a:pPr marL="457200" indent="-457200">
              <a:lnSpc>
                <a:spcPct val="110000"/>
              </a:lnSpc>
            </a:pPr>
            <a:r>
              <a:rPr lang="fr-FR" b="1" dirty="0"/>
              <a:t>Bas (Dim4−) </a:t>
            </a:r>
            <a:r>
              <a:rPr lang="fr-FR" dirty="0"/>
              <a:t>: Pays au PIB par habitant plus faible.</a:t>
            </a:r>
          </a:p>
        </p:txBody>
      </p:sp>
      <p:pic>
        <p:nvPicPr>
          <p:cNvPr id="4" name="Image 3" descr="Une image contenant texte, capture d’écran, diagramme, ligne&#10;&#10;Le contenu généré par l’IA peut être incorrect.">
            <a:extLst>
              <a:ext uri="{FF2B5EF4-FFF2-40B4-BE49-F238E27FC236}">
                <a16:creationId xmlns:a16="http://schemas.microsoft.com/office/drawing/2014/main" id="{50FD4F62-0EC7-86C5-FF84-84B465E4BC8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46" b="1546"/>
          <a:stretch>
            <a:fillRect/>
          </a:stretch>
        </p:blipFill>
        <p:spPr>
          <a:xfrm>
            <a:off x="4654252" y="1596571"/>
            <a:ext cx="7418723" cy="4695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971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46E16A-81B9-C272-A7EB-C446F4BE8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 1">
            <a:extLst>
              <a:ext uri="{FF2B5EF4-FFF2-40B4-BE49-F238E27FC236}">
                <a16:creationId xmlns:a16="http://schemas.microsoft.com/office/drawing/2014/main" id="{53938839-1284-C3F5-8F27-FCA23255C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r>
              <a:rPr lang="fr-FR" spc="-50" dirty="0"/>
              <a:t>3-Analyse exploratoire </a:t>
            </a:r>
            <a:br>
              <a:rPr lang="fr-FR" spc="-50" dirty="0"/>
            </a:br>
            <a:r>
              <a:rPr lang="fr-FR" spc="-50" dirty="0"/>
              <a:t>b) ACP1 : Détection des </a:t>
            </a:r>
            <a:r>
              <a:rPr lang="fr-FR" spc="-50" dirty="0" err="1"/>
              <a:t>outliers</a:t>
            </a:r>
            <a:br>
              <a:rPr lang="fr-FR" dirty="0"/>
            </a:br>
            <a:r>
              <a:rPr lang="fr-FR" sz="1600" i="1" dirty="0"/>
              <a:t>Caractériser les </a:t>
            </a:r>
            <a:r>
              <a:rPr lang="fr-FR" sz="1600" i="1" dirty="0" err="1"/>
              <a:t>outliers</a:t>
            </a:r>
            <a:endParaRPr lang="fr-FR" sz="1600" i="1" dirty="0"/>
          </a:p>
        </p:txBody>
      </p:sp>
      <p:sp>
        <p:nvSpPr>
          <p:cNvPr id="5" name="Espace réservé du texte 12">
            <a:extLst>
              <a:ext uri="{FF2B5EF4-FFF2-40B4-BE49-F238E27FC236}">
                <a16:creationId xmlns:a16="http://schemas.microsoft.com/office/drawing/2014/main" id="{4E2E661F-8BC2-D8CB-7B98-223A0193B622}"/>
              </a:ext>
            </a:extLst>
          </p:cNvPr>
          <p:cNvSpPr txBox="1">
            <a:spLocks/>
          </p:cNvSpPr>
          <p:nvPr/>
        </p:nvSpPr>
        <p:spPr>
          <a:xfrm>
            <a:off x="189756" y="1596571"/>
            <a:ext cx="5159210" cy="4784757"/>
          </a:xfrm>
          <a:prstGeom prst="rect">
            <a:avLst/>
          </a:prstGeom>
        </p:spPr>
        <p:txBody>
          <a:bodyPr rtlCol="0">
            <a:normAutofit fontScale="77500" lnSpcReduction="20000"/>
          </a:bodyPr>
          <a:lstStyle>
            <a:lvl1pPr marL="304747" indent="-304747" algn="l" defTabSz="1218987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>
                  <a:lumMod val="75000"/>
                </a:schemeClr>
              </a:buClr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5772" indent="-304747" algn="l" defTabSz="1218987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6797" indent="-30474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822" indent="-30474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08847" indent="-30474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59872" indent="-30474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10897" indent="-30474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61922" indent="-30474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12947" indent="-30474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10000"/>
              </a:lnSpc>
            </a:pPr>
            <a:r>
              <a:rPr lang="fr-FR" b="1" dirty="0"/>
              <a:t>Chine continentale</a:t>
            </a:r>
            <a:r>
              <a:rPr lang="fr-FR" dirty="0"/>
              <a:t> : Population et volume alimentaires extrêmes, forte consommation de volaille, gouvernance participative faible.</a:t>
            </a:r>
          </a:p>
          <a:p>
            <a:pPr marL="457200" indent="-457200">
              <a:lnSpc>
                <a:spcPct val="110000"/>
              </a:lnSpc>
            </a:pPr>
            <a:r>
              <a:rPr lang="fr-FR" b="1" dirty="0"/>
              <a:t>Brésil et États-Unis</a:t>
            </a:r>
            <a:r>
              <a:rPr lang="fr-FR" dirty="0"/>
              <a:t> : Super-exportateurs de volaille, forte disponibilité intérieure, marchés déjà très avancés.</a:t>
            </a:r>
          </a:p>
          <a:p>
            <a:pPr marL="457200" indent="-457200">
              <a:lnSpc>
                <a:spcPct val="110000"/>
              </a:lnSpc>
            </a:pPr>
            <a:r>
              <a:rPr lang="fr-FR" b="1" dirty="0"/>
              <a:t>Chine – RAS de Hong-Kong</a:t>
            </a:r>
            <a:r>
              <a:rPr lang="fr-FR" dirty="0"/>
              <a:t> : Hub urbain riche, dépendance extrême aux importations, urbanisation et institutions élevées.</a:t>
            </a:r>
          </a:p>
        </p:txBody>
      </p:sp>
      <p:pic>
        <p:nvPicPr>
          <p:cNvPr id="8" name="Image 7" descr="Une image contenant texte, capture d’écran, menu, Police&#10;&#10;Le contenu généré par l’IA peut être incorrect.">
            <a:extLst>
              <a:ext uri="{FF2B5EF4-FFF2-40B4-BE49-F238E27FC236}">
                <a16:creationId xmlns:a16="http://schemas.microsoft.com/office/drawing/2014/main" id="{F8674122-C664-5C55-9097-4A85AC5876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8348" y="1844824"/>
            <a:ext cx="6586851" cy="3814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216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CD9E4-21DA-8B7F-5B63-A1C1F0E9A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9DAFC2F-72CB-F961-20A1-9921C7A3C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1" y="152400"/>
            <a:ext cx="11047413" cy="1295400"/>
          </a:xfrm>
        </p:spPr>
        <p:txBody>
          <a:bodyPr rtlCol="0">
            <a:normAutofit fontScale="90000"/>
          </a:bodyPr>
          <a:lstStyle/>
          <a:p>
            <a:r>
              <a:rPr lang="fr-FR" spc="-50" dirty="0"/>
              <a:t>3-Analyse exploratoire </a:t>
            </a:r>
            <a:br>
              <a:rPr lang="fr-FR" spc="-50" dirty="0"/>
            </a:br>
            <a:r>
              <a:rPr lang="fr-FR" spc="-50" dirty="0"/>
              <a:t>c) ACP2 : Sans les </a:t>
            </a:r>
            <a:r>
              <a:rPr lang="fr-FR" spc="-50" dirty="0" err="1"/>
              <a:t>outliers</a:t>
            </a:r>
            <a:br>
              <a:rPr lang="fr-FR" spc="-50" dirty="0"/>
            </a:br>
            <a:r>
              <a:rPr lang="fr-FR" sz="1600" i="1" spc="-50" dirty="0"/>
              <a:t>Choix du nombre de composantes et des axes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1227C36-02BB-026B-77E2-54A6AA18E2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89756" y="1600200"/>
            <a:ext cx="11665296" cy="1295400"/>
          </a:xfrm>
        </p:spPr>
        <p:txBody>
          <a:bodyPr rtlCol="0">
            <a:normAutofit/>
          </a:bodyPr>
          <a:lstStyle/>
          <a:p>
            <a:pPr>
              <a:lnSpc>
                <a:spcPct val="100000"/>
              </a:lnSpc>
            </a:pPr>
            <a:r>
              <a:rPr lang="fr-FR" dirty="0"/>
              <a:t>D’après le diagramme des éboulis, 5 composantes retenues; interprétation centrée sur les 5 premiers axes (~74 % de la variance).</a:t>
            </a:r>
          </a:p>
        </p:txBody>
      </p:sp>
      <p:pic>
        <p:nvPicPr>
          <p:cNvPr id="6" name="Image 5" descr="Une image contenant text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27DAD442-17D8-D00D-99BE-DA5422590F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80" y="3429000"/>
            <a:ext cx="5760000" cy="2136472"/>
          </a:xfrm>
          <a:prstGeom prst="rect">
            <a:avLst/>
          </a:prstGeom>
        </p:spPr>
      </p:pic>
      <p:pic>
        <p:nvPicPr>
          <p:cNvPr id="7" name="Image 6" descr="Une image contenant texte, diagramme, lign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FE10C060-0CA3-7198-C40B-475075F708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5583" y="2708920"/>
            <a:ext cx="6233486" cy="3918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855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B4625-28F2-09DC-553B-A4408B2E9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22282B1-2C70-A8C4-2DCE-21A316DE1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1" y="152400"/>
            <a:ext cx="11047413" cy="1295400"/>
          </a:xfrm>
        </p:spPr>
        <p:txBody>
          <a:bodyPr rtlCol="0">
            <a:normAutofit fontScale="90000"/>
          </a:bodyPr>
          <a:lstStyle/>
          <a:p>
            <a:r>
              <a:rPr lang="fr-FR" spc="-50" dirty="0"/>
              <a:t>3-Analyse exploratoire </a:t>
            </a:r>
            <a:br>
              <a:rPr lang="fr-FR" spc="-50" dirty="0"/>
            </a:br>
            <a:r>
              <a:rPr lang="fr-FR" spc="-50" dirty="0"/>
              <a:t>c) ACP2 : Sans les </a:t>
            </a:r>
            <a:r>
              <a:rPr lang="fr-FR" spc="-50" dirty="0" err="1"/>
              <a:t>outliers</a:t>
            </a:r>
            <a:br>
              <a:rPr lang="fr-FR" spc="-50" dirty="0"/>
            </a:br>
            <a:r>
              <a:rPr lang="fr-FR" sz="1600" i="1" spc="-50" dirty="0"/>
              <a:t>Cercle de corrélation Dim1-Dim2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5133123-E3E7-1366-CF0D-4861D69FEB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07141" y="1600200"/>
            <a:ext cx="4663135" cy="4853136"/>
          </a:xfrm>
        </p:spPr>
        <p:txBody>
          <a:bodyPr rtlCol="0"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lang="fr-FR" b="1" dirty="0"/>
              <a:t>Dim1 (+)</a:t>
            </a:r>
            <a:r>
              <a:rPr lang="fr-FR" dirty="0"/>
              <a:t> : Forte consommation de volaille, commerce (import/export), urbanisation, accès à l’électricité, bonne gouvernance (contrôle de la corruption, participation, stabilité).</a:t>
            </a:r>
          </a:p>
          <a:p>
            <a:pPr>
              <a:lnSpc>
                <a:spcPct val="120000"/>
              </a:lnSpc>
            </a:pPr>
            <a:r>
              <a:rPr lang="fr-FR" b="1" dirty="0"/>
              <a:t>Dim1 (–)</a:t>
            </a:r>
            <a:r>
              <a:rPr lang="fr-FR" dirty="0"/>
              <a:t> : Pays plus ruraux, moins connectés et moins bien gouvernés.</a:t>
            </a:r>
          </a:p>
          <a:p>
            <a:pPr>
              <a:lnSpc>
                <a:spcPct val="120000"/>
              </a:lnSpc>
            </a:pPr>
            <a:r>
              <a:rPr lang="fr-FR" b="1" dirty="0"/>
              <a:t>Dim2 (+)</a:t>
            </a:r>
            <a:r>
              <a:rPr lang="fr-FR" dirty="0"/>
              <a:t> : Gros volumes alimentaires, population élevée, autosuffisance volailles.</a:t>
            </a:r>
          </a:p>
          <a:p>
            <a:pPr>
              <a:lnSpc>
                <a:spcPct val="120000"/>
              </a:lnSpc>
            </a:pPr>
            <a:r>
              <a:rPr lang="fr-FR" b="1" dirty="0"/>
              <a:t>Dim2 (–)</a:t>
            </a:r>
            <a:r>
              <a:rPr lang="fr-FR" dirty="0"/>
              <a:t> : Pays plus dépendants, production locale plus faible.</a:t>
            </a:r>
          </a:p>
        </p:txBody>
      </p:sp>
      <p:pic>
        <p:nvPicPr>
          <p:cNvPr id="5" name="Image 4" descr="Une image contenant texte, diagramme, capture d’écran, ligne&#10;&#10;Le contenu généré par l’IA peut être incorrect.">
            <a:extLst>
              <a:ext uri="{FF2B5EF4-FFF2-40B4-BE49-F238E27FC236}">
                <a16:creationId xmlns:a16="http://schemas.microsoft.com/office/drawing/2014/main" id="{638CD5DA-BF4C-6698-2F72-0968E77173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6340" y="1369658"/>
            <a:ext cx="6175304" cy="5335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953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DE6FB-8390-6823-8E7F-923AE5C15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EFF50E-14C1-486F-CEEB-AF929B76C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1" y="152400"/>
            <a:ext cx="11047413" cy="1295400"/>
          </a:xfrm>
        </p:spPr>
        <p:txBody>
          <a:bodyPr rtlCol="0">
            <a:normAutofit fontScale="90000"/>
          </a:bodyPr>
          <a:lstStyle/>
          <a:p>
            <a:r>
              <a:rPr lang="fr-FR" spc="-50" dirty="0"/>
              <a:t>3-Analyse exploratoire </a:t>
            </a:r>
            <a:br>
              <a:rPr lang="fr-FR" spc="-50" dirty="0"/>
            </a:br>
            <a:r>
              <a:rPr lang="fr-FR" spc="-50" dirty="0"/>
              <a:t>c) ACP2 : Sans les </a:t>
            </a:r>
            <a:r>
              <a:rPr lang="fr-FR" spc="-50" dirty="0" err="1"/>
              <a:t>outliers</a:t>
            </a:r>
            <a:br>
              <a:rPr lang="fr-FR" spc="-50" dirty="0"/>
            </a:br>
            <a:r>
              <a:rPr lang="fr-FR" sz="1600" i="1" spc="-50" dirty="0"/>
              <a:t>Cercle de corrélation Dim3-Dim4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1BB3AA8-0471-CF1A-66CD-56BF43D686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89756" y="1600200"/>
            <a:ext cx="5184576" cy="4853136"/>
          </a:xfrm>
        </p:spPr>
        <p:txBody>
          <a:bodyPr rtlCol="0"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fr-CI" b="1" dirty="0"/>
              <a:t>Dim3</a:t>
            </a:r>
            <a:r>
              <a:rPr lang="fr-CI" dirty="0"/>
              <a:t> (axe horizontal – 11,6 %)</a:t>
            </a:r>
          </a:p>
          <a:p>
            <a:pPr lvl="1">
              <a:lnSpc>
                <a:spcPct val="120000"/>
              </a:lnSpc>
            </a:pPr>
            <a:r>
              <a:rPr lang="fr-FR" dirty="0"/>
              <a:t>Droite : pays importateurs nets avec forte consommation de volaille.</a:t>
            </a:r>
          </a:p>
          <a:p>
            <a:pPr lvl="1">
              <a:lnSpc>
                <a:spcPct val="120000"/>
              </a:lnSpc>
            </a:pPr>
            <a:r>
              <a:rPr lang="fr-FR" dirty="0"/>
              <a:t>Gauche : pays autosuffisants / exportateurs (moins dépendants du commerce).</a:t>
            </a:r>
            <a:endParaRPr lang="fr-CI" dirty="0"/>
          </a:p>
          <a:p>
            <a:pPr>
              <a:lnSpc>
                <a:spcPct val="120000"/>
              </a:lnSpc>
            </a:pPr>
            <a:r>
              <a:rPr lang="fr-CI" b="1" dirty="0"/>
              <a:t>Dim4</a:t>
            </a:r>
            <a:r>
              <a:rPr lang="fr-CI" dirty="0"/>
              <a:t> (axe vertical – 9,5 %)</a:t>
            </a:r>
          </a:p>
          <a:p>
            <a:pPr lvl="1">
              <a:lnSpc>
                <a:spcPct val="120000"/>
              </a:lnSpc>
            </a:pPr>
            <a:r>
              <a:rPr lang="fr-FR" dirty="0"/>
              <a:t>Haut : pays très dépendants des importations (</a:t>
            </a:r>
            <a:r>
              <a:rPr lang="fr-FR" dirty="0" err="1"/>
              <a:t>taux_indep_volaille</a:t>
            </a:r>
            <a:r>
              <a:rPr lang="fr-FR" dirty="0"/>
              <a:t> élevé).</a:t>
            </a:r>
          </a:p>
          <a:p>
            <a:pPr lvl="1">
              <a:lnSpc>
                <a:spcPct val="120000"/>
              </a:lnSpc>
            </a:pPr>
            <a:r>
              <a:rPr lang="fr-FR" dirty="0"/>
              <a:t>Bas : pays producteurs/autosuffisants (</a:t>
            </a:r>
            <a:r>
              <a:rPr lang="fr-FR" dirty="0" err="1"/>
              <a:t>taux_autosuff_volaille</a:t>
            </a:r>
            <a:r>
              <a:rPr lang="fr-FR" dirty="0"/>
              <a:t> et </a:t>
            </a:r>
            <a:r>
              <a:rPr lang="fr-FR" dirty="0" err="1"/>
              <a:t>export_qte</a:t>
            </a:r>
            <a:r>
              <a:rPr lang="fr-FR" dirty="0"/>
              <a:t> élevés).</a:t>
            </a:r>
          </a:p>
        </p:txBody>
      </p:sp>
      <p:pic>
        <p:nvPicPr>
          <p:cNvPr id="6" name="Image 5" descr="Une image contenant texte, diagramme, ligne, Tracé&#10;&#10;Le contenu généré par l’IA peut être incorrect.">
            <a:extLst>
              <a:ext uri="{FF2B5EF4-FFF2-40B4-BE49-F238E27FC236}">
                <a16:creationId xmlns:a16="http://schemas.microsoft.com/office/drawing/2014/main" id="{8BBF04AA-1C99-97BD-A1C7-76D7289F73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8348" y="1447800"/>
            <a:ext cx="6075838" cy="5377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634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31B0E-3F0B-A5B1-1BA2-335F9AE77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81AAB18-E13F-934F-566C-E4944BFEC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1" y="152400"/>
            <a:ext cx="11047413" cy="1295400"/>
          </a:xfrm>
        </p:spPr>
        <p:txBody>
          <a:bodyPr rtlCol="0">
            <a:normAutofit fontScale="90000"/>
          </a:bodyPr>
          <a:lstStyle/>
          <a:p>
            <a:r>
              <a:rPr lang="fr-FR" spc="-50" dirty="0"/>
              <a:t>3-Analyse exploratoire </a:t>
            </a:r>
            <a:br>
              <a:rPr lang="fr-FR" spc="-50" dirty="0"/>
            </a:br>
            <a:r>
              <a:rPr lang="fr-FR" spc="-50" dirty="0"/>
              <a:t>c) ACP2 : Sans les </a:t>
            </a:r>
            <a:r>
              <a:rPr lang="fr-FR" spc="-50" dirty="0" err="1"/>
              <a:t>outliers</a:t>
            </a:r>
            <a:r>
              <a:rPr lang="fr-FR" spc="-50" dirty="0"/>
              <a:t> </a:t>
            </a:r>
            <a:br>
              <a:rPr lang="fr-FR" spc="-50" dirty="0"/>
            </a:br>
            <a:r>
              <a:rPr lang="fr-FR" sz="1600" i="1" spc="-50" dirty="0"/>
              <a:t>Cercle de corrélation Dim1-Dim5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DC88E63-BA47-12F8-896B-446DB61EA1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89756" y="1600200"/>
            <a:ext cx="5184576" cy="4853136"/>
          </a:xfrm>
        </p:spPr>
        <p:txBody>
          <a:bodyPr rtlCol="0">
            <a:normAutofit/>
          </a:bodyPr>
          <a:lstStyle/>
          <a:p>
            <a:pPr>
              <a:lnSpc>
                <a:spcPct val="120000"/>
              </a:lnSpc>
            </a:pPr>
            <a:r>
              <a:rPr lang="fr-FR" sz="2400" b="1" dirty="0"/>
              <a:t>Dim1</a:t>
            </a:r>
            <a:r>
              <a:rPr lang="fr-FR" sz="2400" dirty="0"/>
              <a:t> : Axe “Gouvernance urbaine” – </a:t>
            </a:r>
            <a:r>
              <a:rPr lang="fr-FR" sz="2400" dirty="0" err="1"/>
              <a:t>participation_resp</a:t>
            </a:r>
            <a:r>
              <a:rPr lang="fr-FR" sz="2400" dirty="0"/>
              <a:t>, </a:t>
            </a:r>
            <a:r>
              <a:rPr lang="fr-FR" sz="2400" dirty="0" err="1"/>
              <a:t>controle_corr</a:t>
            </a:r>
            <a:r>
              <a:rPr lang="fr-FR" sz="2400" dirty="0"/>
              <a:t>, </a:t>
            </a:r>
            <a:r>
              <a:rPr lang="fr-FR" sz="2400" dirty="0" err="1"/>
              <a:t>stab_politique</a:t>
            </a:r>
            <a:r>
              <a:rPr lang="fr-FR" sz="2400" dirty="0"/>
              <a:t>, </a:t>
            </a:r>
            <a:r>
              <a:rPr lang="fr-FR" sz="2400" dirty="0" err="1"/>
              <a:t>acces_elec</a:t>
            </a:r>
            <a:r>
              <a:rPr lang="fr-FR" sz="2400" dirty="0"/>
              <a:t>, </a:t>
            </a:r>
            <a:r>
              <a:rPr lang="fr-FR" sz="2400" dirty="0" err="1"/>
              <a:t>taux_urbain</a:t>
            </a:r>
            <a:r>
              <a:rPr lang="fr-FR" sz="2400" dirty="0"/>
              <a:t> fortement positifs, associés à </a:t>
            </a:r>
            <a:r>
              <a:rPr lang="fr-FR" sz="2400" dirty="0" err="1"/>
              <a:t>poulet_kg_par_hab</a:t>
            </a:r>
            <a:r>
              <a:rPr lang="fr-FR" sz="2400" dirty="0"/>
              <a:t>.</a:t>
            </a:r>
          </a:p>
          <a:p>
            <a:pPr>
              <a:lnSpc>
                <a:spcPct val="120000"/>
              </a:lnSpc>
            </a:pPr>
            <a:r>
              <a:rPr lang="fr-FR" sz="2600" b="1" dirty="0"/>
              <a:t>Dim1</a:t>
            </a:r>
            <a:r>
              <a:rPr lang="fr-FR" sz="2600" dirty="0"/>
              <a:t> négatif : pays fragiles, peu équipés.</a:t>
            </a:r>
          </a:p>
          <a:p>
            <a:pPr>
              <a:lnSpc>
                <a:spcPct val="120000"/>
              </a:lnSpc>
            </a:pPr>
            <a:r>
              <a:rPr lang="fr-FR" sz="2000" b="1" dirty="0"/>
              <a:t>Dim5</a:t>
            </a:r>
            <a:r>
              <a:rPr lang="fr-FR" sz="2000" dirty="0"/>
              <a:t> : Oppose très fortes populations (</a:t>
            </a:r>
            <a:r>
              <a:rPr lang="fr-FR" sz="2000" dirty="0" err="1"/>
              <a:t>pop_totale</a:t>
            </a:r>
            <a:r>
              <a:rPr lang="fr-FR" sz="2000" dirty="0"/>
              <a:t> +) à pays moins peuplés, plus autosuffisants.</a:t>
            </a:r>
          </a:p>
        </p:txBody>
      </p:sp>
      <p:pic>
        <p:nvPicPr>
          <p:cNvPr id="5" name="Image 4" descr="Une image contenant texte, diagramme, ligne, Tracé&#10;&#10;Le contenu généré par l’IA peut être incorrect.">
            <a:extLst>
              <a:ext uri="{FF2B5EF4-FFF2-40B4-BE49-F238E27FC236}">
                <a16:creationId xmlns:a16="http://schemas.microsoft.com/office/drawing/2014/main" id="{FB35EC20-63BA-590F-6CB8-0E8A2F2D3D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8348" y="1127702"/>
            <a:ext cx="6336704" cy="5325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4305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F5EC4-207F-E425-11DC-8D0241D7F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 1">
            <a:extLst>
              <a:ext uri="{FF2B5EF4-FFF2-40B4-BE49-F238E27FC236}">
                <a16:creationId xmlns:a16="http://schemas.microsoft.com/office/drawing/2014/main" id="{4D097E73-7922-F900-828A-529C0AFB3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br>
              <a:rPr lang="fr-FR" dirty="0"/>
            </a:br>
            <a:r>
              <a:rPr lang="fr-FR" spc="-50" dirty="0"/>
              <a:t>3-Analyse exploratoire </a:t>
            </a:r>
            <a:br>
              <a:rPr lang="fr-FR" spc="-50" dirty="0"/>
            </a:br>
            <a:r>
              <a:rPr lang="fr-FR" spc="-50" dirty="0"/>
              <a:t>c) ACP2 : Sans les </a:t>
            </a:r>
            <a:r>
              <a:rPr lang="fr-FR" spc="-50" dirty="0" err="1"/>
              <a:t>outliers</a:t>
            </a:r>
            <a:r>
              <a:rPr lang="fr-FR" spc="-50" dirty="0"/>
              <a:t> </a:t>
            </a:r>
            <a:br>
              <a:rPr lang="fr-FR" spc="-50" dirty="0"/>
            </a:br>
            <a:r>
              <a:rPr lang="fr-FR" sz="1600" i="1" dirty="0"/>
              <a:t>Matrice dimensions/variables</a:t>
            </a:r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EE476344-E4F8-1FB1-282C-CBE828A6AD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89756" y="1596571"/>
            <a:ext cx="4320480" cy="4784757"/>
          </a:xfrm>
        </p:spPr>
        <p:txBody>
          <a:bodyPr rtlCol="0">
            <a:normAutofit fontScale="55000" lnSpcReduction="20000"/>
          </a:bodyPr>
          <a:lstStyle/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fr-FR" b="1" dirty="0">
                <a:solidFill>
                  <a:schemeClr val="tx1"/>
                </a:solidFill>
              </a:rPr>
              <a:t>Dim1 – Gouvernance urbaine</a:t>
            </a:r>
            <a:r>
              <a:rPr lang="fr-FR" dirty="0">
                <a:solidFill>
                  <a:schemeClr val="tx1"/>
                </a:solidFill>
              </a:rPr>
              <a:t> : pays urbanisés, bien gouvernés, électrifiés, forte consommation/export de volaille.</a:t>
            </a:r>
          </a:p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fr-FR" b="1" dirty="0">
                <a:solidFill>
                  <a:schemeClr val="tx1"/>
                </a:solidFill>
              </a:rPr>
              <a:t>Dim2 – Volume &amp; démographie</a:t>
            </a:r>
            <a:r>
              <a:rPr lang="fr-FR" dirty="0">
                <a:solidFill>
                  <a:schemeClr val="tx1"/>
                </a:solidFill>
              </a:rPr>
              <a:t> : pays très nourris, autosuffisants, population élevée.</a:t>
            </a:r>
          </a:p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fr-FR" b="1" dirty="0">
                <a:solidFill>
                  <a:schemeClr val="tx1"/>
                </a:solidFill>
              </a:rPr>
              <a:t>Dim3 – Dépendance importations</a:t>
            </a:r>
            <a:r>
              <a:rPr lang="fr-FR" dirty="0">
                <a:solidFill>
                  <a:schemeClr val="tx1"/>
                </a:solidFill>
              </a:rPr>
              <a:t> : importations fortes, autosuffisance et export faibles.</a:t>
            </a:r>
          </a:p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fr-FR" b="1" dirty="0">
                <a:solidFill>
                  <a:schemeClr val="tx1"/>
                </a:solidFill>
              </a:rPr>
              <a:t>Dim3 – Dépendance importations</a:t>
            </a:r>
            <a:r>
              <a:rPr lang="fr-FR" dirty="0">
                <a:solidFill>
                  <a:schemeClr val="tx1"/>
                </a:solidFill>
              </a:rPr>
              <a:t> : importations fortes, autosuffisance et export faibles.</a:t>
            </a:r>
          </a:p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fr-FR" b="1" dirty="0">
                <a:solidFill>
                  <a:schemeClr val="tx1"/>
                </a:solidFill>
              </a:rPr>
              <a:t>Dim5 – Pression démographique</a:t>
            </a:r>
            <a:r>
              <a:rPr lang="fr-FR" dirty="0">
                <a:solidFill>
                  <a:schemeClr val="tx1"/>
                </a:solidFill>
              </a:rPr>
              <a:t> : forte population vs pays riches autosuffisants</a:t>
            </a:r>
            <a:endParaRPr lang="fr-FR" b="0" dirty="0">
              <a:solidFill>
                <a:schemeClr val="tx1"/>
              </a:solidFill>
            </a:endParaRPr>
          </a:p>
        </p:txBody>
      </p:sp>
      <p:pic>
        <p:nvPicPr>
          <p:cNvPr id="4" name="Image 3" descr="Une image contenant texte, capture d’écran, Police, typographie&#10;&#10;Le contenu généré par l’IA peut être incorrect.">
            <a:extLst>
              <a:ext uri="{FF2B5EF4-FFF2-40B4-BE49-F238E27FC236}">
                <a16:creationId xmlns:a16="http://schemas.microsoft.com/office/drawing/2014/main" id="{7BB614BD-605A-E03F-6F14-3829E10545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4977" y="2276872"/>
            <a:ext cx="7421236" cy="3553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93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A7D5B9-450F-D18B-B04D-EC06F23E6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 1">
            <a:extLst>
              <a:ext uri="{FF2B5EF4-FFF2-40B4-BE49-F238E27FC236}">
                <a16:creationId xmlns:a16="http://schemas.microsoft.com/office/drawing/2014/main" id="{BA1434DC-971C-FC24-D123-ED5AB23B9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r>
              <a:rPr lang="fr-FR" spc="-50" dirty="0"/>
              <a:t>3-Analyse exploratoire </a:t>
            </a:r>
            <a:br>
              <a:rPr lang="fr-FR" spc="-50" dirty="0"/>
            </a:br>
            <a:r>
              <a:rPr lang="fr-FR" spc="-50" dirty="0"/>
              <a:t>c) ACP2 : Sans les </a:t>
            </a:r>
            <a:r>
              <a:rPr lang="fr-FR" spc="-50" dirty="0" err="1"/>
              <a:t>outliers</a:t>
            </a:r>
            <a:br>
              <a:rPr lang="fr-FR" dirty="0"/>
            </a:br>
            <a:r>
              <a:rPr lang="fr-FR" sz="1600" i="1" dirty="0"/>
              <a:t>Plan factoriel Dim1-Dim2</a:t>
            </a:r>
          </a:p>
        </p:txBody>
      </p:sp>
      <p:sp>
        <p:nvSpPr>
          <p:cNvPr id="5" name="Espace réservé du texte 12">
            <a:extLst>
              <a:ext uri="{FF2B5EF4-FFF2-40B4-BE49-F238E27FC236}">
                <a16:creationId xmlns:a16="http://schemas.microsoft.com/office/drawing/2014/main" id="{9A1D2B69-5BED-FAB9-5D1A-1A66F2FE9FCA}"/>
              </a:ext>
            </a:extLst>
          </p:cNvPr>
          <p:cNvSpPr txBox="1">
            <a:spLocks/>
          </p:cNvSpPr>
          <p:nvPr/>
        </p:nvSpPr>
        <p:spPr>
          <a:xfrm>
            <a:off x="261764" y="1447800"/>
            <a:ext cx="4320480" cy="4784757"/>
          </a:xfrm>
          <a:prstGeom prst="rect">
            <a:avLst/>
          </a:prstGeom>
        </p:spPr>
        <p:txBody>
          <a:bodyPr rtlCol="0">
            <a:normAutofit fontScale="77500" lnSpcReduction="20000"/>
          </a:bodyPr>
          <a:lstStyle>
            <a:lvl1pPr marL="304747" indent="-304747" algn="l" defTabSz="1218987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>
                  <a:lumMod val="75000"/>
                </a:schemeClr>
              </a:buClr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5772" indent="-304747" algn="l" defTabSz="1218987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6797" indent="-30474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822" indent="-30474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08847" indent="-30474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59872" indent="-30474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10897" indent="-30474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61922" indent="-30474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12947" indent="-30474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20000"/>
              </a:lnSpc>
            </a:pPr>
            <a:r>
              <a:rPr lang="fr-FR" dirty="0"/>
              <a:t>À droite : Pays développés, bien gouvernés et déjà gros consommateurs de volaille (PAY, ALL, BEL, JPN, pays nordiques) → marchés premium.</a:t>
            </a:r>
          </a:p>
          <a:p>
            <a:pPr marL="457200" indent="-457200">
              <a:lnSpc>
                <a:spcPct val="120000"/>
              </a:lnSpc>
            </a:pPr>
            <a:r>
              <a:rPr lang="fr-FR" dirty="0"/>
              <a:t>En haut : Grands pays de volume (MEX, IND, FÉD, IRA) → potentiel de croissance massif mais plus risqué.</a:t>
            </a:r>
          </a:p>
          <a:p>
            <a:pPr marL="457200" indent="-457200">
              <a:lnSpc>
                <a:spcPct val="120000"/>
              </a:lnSpc>
            </a:pPr>
            <a:r>
              <a:rPr lang="fr-FR" dirty="0"/>
              <a:t>En bas-gauche : pays encore éloignés de la cible actuelle.</a:t>
            </a:r>
          </a:p>
        </p:txBody>
      </p:sp>
      <p:pic>
        <p:nvPicPr>
          <p:cNvPr id="4" name="Image 3" descr="Une image contenant texte, diagramme, nombre, Police&#10;&#10;Le contenu généré par l’IA peut être incorrect.">
            <a:extLst>
              <a:ext uri="{FF2B5EF4-FFF2-40B4-BE49-F238E27FC236}">
                <a16:creationId xmlns:a16="http://schemas.microsoft.com/office/drawing/2014/main" id="{E0C8F818-257E-FF7B-5B73-CD0963E9A5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2244" y="1582323"/>
            <a:ext cx="7416824" cy="4738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700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AF941-216F-E4DB-F182-73CFB617A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 1">
            <a:extLst>
              <a:ext uri="{FF2B5EF4-FFF2-40B4-BE49-F238E27FC236}">
                <a16:creationId xmlns:a16="http://schemas.microsoft.com/office/drawing/2014/main" id="{CEB8E06F-9DF1-D6DA-9BFD-300A14AC9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r>
              <a:rPr lang="fr-FR" spc="-50" dirty="0"/>
              <a:t>3-Analyse exploratoire </a:t>
            </a:r>
            <a:br>
              <a:rPr lang="fr-FR" spc="-50" dirty="0"/>
            </a:br>
            <a:r>
              <a:rPr lang="fr-FR" spc="-50" dirty="0"/>
              <a:t>c) ACP2 : Sans les </a:t>
            </a:r>
            <a:r>
              <a:rPr lang="fr-FR" spc="-50" dirty="0" err="1"/>
              <a:t>outliers</a:t>
            </a:r>
            <a:br>
              <a:rPr lang="fr-FR" dirty="0"/>
            </a:br>
            <a:r>
              <a:rPr lang="fr-FR" sz="1600" i="1" dirty="0"/>
              <a:t>Plan factoriel Dim3-Dim4</a:t>
            </a:r>
          </a:p>
        </p:txBody>
      </p:sp>
      <p:sp>
        <p:nvSpPr>
          <p:cNvPr id="5" name="Espace réservé du texte 12">
            <a:extLst>
              <a:ext uri="{FF2B5EF4-FFF2-40B4-BE49-F238E27FC236}">
                <a16:creationId xmlns:a16="http://schemas.microsoft.com/office/drawing/2014/main" id="{ED3BCEB5-F2CF-5633-06C3-5C6AE595321B}"/>
              </a:ext>
            </a:extLst>
          </p:cNvPr>
          <p:cNvSpPr txBox="1">
            <a:spLocks/>
          </p:cNvSpPr>
          <p:nvPr/>
        </p:nvSpPr>
        <p:spPr>
          <a:xfrm>
            <a:off x="261764" y="1447800"/>
            <a:ext cx="4464496" cy="4784757"/>
          </a:xfrm>
          <a:prstGeom prst="rect">
            <a:avLst/>
          </a:prstGeom>
        </p:spPr>
        <p:txBody>
          <a:bodyPr rtlCol="0">
            <a:normAutofit fontScale="77500" lnSpcReduction="20000"/>
          </a:bodyPr>
          <a:lstStyle>
            <a:lvl1pPr marL="304747" indent="-304747" algn="l" defTabSz="1218987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>
                  <a:lumMod val="75000"/>
                </a:schemeClr>
              </a:buClr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5772" indent="-304747" algn="l" defTabSz="1218987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6797" indent="-30474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822" indent="-30474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08847" indent="-30474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59872" indent="-30474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10897" indent="-30474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61922" indent="-30474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12947" indent="-30474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20000"/>
              </a:lnSpc>
            </a:pPr>
            <a:r>
              <a:rPr lang="fr-FR" dirty="0"/>
              <a:t>Axe horizontal (Dim3) : À droite, pays très dépendants des importations de volaille ; à gauche, pays plutôt autosuffisants / exportateurs.</a:t>
            </a:r>
          </a:p>
          <a:p>
            <a:pPr marL="457200" indent="-457200">
              <a:lnSpc>
                <a:spcPct val="120000"/>
              </a:lnSpc>
            </a:pPr>
            <a:r>
              <a:rPr lang="fr-FR" dirty="0"/>
              <a:t>Axe vertical (Dim4) : En haut, pays plus riches et structurés ; en bas, pays à revenus plus faibles.</a:t>
            </a:r>
          </a:p>
          <a:p>
            <a:pPr marL="457200" indent="-457200">
              <a:lnSpc>
                <a:spcPct val="120000"/>
              </a:lnSpc>
            </a:pPr>
            <a:r>
              <a:rPr lang="fr-FR" dirty="0"/>
              <a:t>Cible prioritaire : Quadrant haut-droite (importateurs riches).</a:t>
            </a:r>
          </a:p>
        </p:txBody>
      </p:sp>
      <p:pic>
        <p:nvPicPr>
          <p:cNvPr id="6" name="Image 5" descr="Une image contenant texte, diagramme, lign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8BD620E8-061D-F696-7256-614D3AAC7D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5944" y="1567684"/>
            <a:ext cx="7091117" cy="4532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702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391EC-5B3D-4BAB-0962-52C18B877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 1">
            <a:extLst>
              <a:ext uri="{FF2B5EF4-FFF2-40B4-BE49-F238E27FC236}">
                <a16:creationId xmlns:a16="http://schemas.microsoft.com/office/drawing/2014/main" id="{BAB25092-EE96-8E07-430A-B00FC4BA5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r>
              <a:rPr lang="fr-FR" spc="-50" dirty="0"/>
              <a:t>3-Analyse exploratoire </a:t>
            </a:r>
            <a:br>
              <a:rPr lang="fr-FR" spc="-50" dirty="0"/>
            </a:br>
            <a:r>
              <a:rPr lang="fr-FR" spc="-50" dirty="0"/>
              <a:t>c) ACP2 : Sans les </a:t>
            </a:r>
            <a:r>
              <a:rPr lang="fr-FR" spc="-50" dirty="0" err="1"/>
              <a:t>outliers</a:t>
            </a:r>
            <a:br>
              <a:rPr lang="fr-FR" dirty="0"/>
            </a:br>
            <a:r>
              <a:rPr lang="fr-FR" sz="1600" i="1" dirty="0"/>
              <a:t>Plan factoriel Dim1-Dim5</a:t>
            </a:r>
          </a:p>
        </p:txBody>
      </p:sp>
      <p:sp>
        <p:nvSpPr>
          <p:cNvPr id="5" name="Espace réservé du texte 12">
            <a:extLst>
              <a:ext uri="{FF2B5EF4-FFF2-40B4-BE49-F238E27FC236}">
                <a16:creationId xmlns:a16="http://schemas.microsoft.com/office/drawing/2014/main" id="{5DD6C92A-4D4C-9051-E41B-D26FD2BB4C79}"/>
              </a:ext>
            </a:extLst>
          </p:cNvPr>
          <p:cNvSpPr txBox="1">
            <a:spLocks/>
          </p:cNvSpPr>
          <p:nvPr/>
        </p:nvSpPr>
        <p:spPr>
          <a:xfrm>
            <a:off x="261764" y="1447800"/>
            <a:ext cx="4464496" cy="4784757"/>
          </a:xfrm>
          <a:prstGeom prst="rect">
            <a:avLst/>
          </a:prstGeom>
        </p:spPr>
        <p:txBody>
          <a:bodyPr rtlCol="0">
            <a:normAutofit fontScale="77500" lnSpcReduction="20000"/>
          </a:bodyPr>
          <a:lstStyle>
            <a:lvl1pPr marL="304747" indent="-304747" algn="l" defTabSz="1218987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>
                  <a:lumMod val="75000"/>
                </a:schemeClr>
              </a:buClr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5772" indent="-304747" algn="l" defTabSz="1218987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6797" indent="-30474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822" indent="-30474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08847" indent="-30474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59872" indent="-30474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10897" indent="-30474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61922" indent="-30474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12947" indent="-30474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20000"/>
              </a:lnSpc>
            </a:pPr>
            <a:r>
              <a:rPr lang="fr-FR" dirty="0"/>
              <a:t>À droite (Dim1 &gt; 0) : Pays développés, urbains, bien gouvernés, gros consommateurs de volaille.</a:t>
            </a:r>
          </a:p>
          <a:p>
            <a:pPr marL="457200" indent="-457200">
              <a:lnSpc>
                <a:spcPct val="120000"/>
              </a:lnSpc>
            </a:pPr>
            <a:r>
              <a:rPr lang="fr-FR" dirty="0"/>
              <a:t>À gauche : Pays sous-équipés, institutions plus faibles.</a:t>
            </a:r>
          </a:p>
          <a:p>
            <a:pPr marL="457200" indent="-457200">
              <a:lnSpc>
                <a:spcPct val="120000"/>
              </a:lnSpc>
            </a:pPr>
            <a:r>
              <a:rPr lang="fr-FR" dirty="0"/>
              <a:t>En haut (Dim5 &gt; 0) : Très grands pays, notamment l’Inde.</a:t>
            </a:r>
          </a:p>
          <a:p>
            <a:pPr marL="457200" indent="-457200">
              <a:lnSpc>
                <a:spcPct val="120000"/>
              </a:lnSpc>
            </a:pPr>
            <a:r>
              <a:rPr lang="fr-FR" dirty="0"/>
              <a:t>En bas : petits / moyens pays, pression démographique plus faible.</a:t>
            </a:r>
          </a:p>
        </p:txBody>
      </p:sp>
      <p:pic>
        <p:nvPicPr>
          <p:cNvPr id="4" name="Image 3" descr="Une image contenant texte, diagramme, capture d’écran, nombre&#10;&#10;Le contenu généré par l’IA peut être incorrect.">
            <a:extLst>
              <a:ext uri="{FF2B5EF4-FFF2-40B4-BE49-F238E27FC236}">
                <a16:creationId xmlns:a16="http://schemas.microsoft.com/office/drawing/2014/main" id="{9BF73A7C-D127-BE31-E478-C162799DE1C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559"/>
          <a:stretch>
            <a:fillRect/>
          </a:stretch>
        </p:blipFill>
        <p:spPr>
          <a:xfrm>
            <a:off x="4726260" y="1340768"/>
            <a:ext cx="7226352" cy="4546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8565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ACEEB-1A03-6A22-1D1B-EC413FE23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 1">
            <a:extLst>
              <a:ext uri="{FF2B5EF4-FFF2-40B4-BE49-F238E27FC236}">
                <a16:creationId xmlns:a16="http://schemas.microsoft.com/office/drawing/2014/main" id="{DFC6ECF4-F131-B204-5025-6FE7DDB45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2" y="152400"/>
            <a:ext cx="10348137" cy="1295400"/>
          </a:xfrm>
        </p:spPr>
        <p:txBody>
          <a:bodyPr rtlCol="0">
            <a:normAutofit fontScale="90000"/>
          </a:bodyPr>
          <a:lstStyle/>
          <a:p>
            <a:r>
              <a:rPr lang="fr-FR" spc="-50" dirty="0"/>
              <a:t>3-Analyse exploratoire </a:t>
            </a:r>
            <a:br>
              <a:rPr lang="fr-FR" spc="-50" dirty="0"/>
            </a:br>
            <a:r>
              <a:rPr lang="fr-FR" spc="-50" dirty="0"/>
              <a:t>c) ACP2 : Sans les </a:t>
            </a:r>
            <a:r>
              <a:rPr lang="fr-FR" spc="-50" dirty="0" err="1"/>
              <a:t>outliers</a:t>
            </a:r>
            <a:br>
              <a:rPr lang="fr-FR" dirty="0"/>
            </a:br>
            <a:r>
              <a:rPr lang="fr-FR" sz="1600" i="1" dirty="0"/>
              <a:t>Coordonnées des pays dans l’espace à 5 dimensions</a:t>
            </a:r>
          </a:p>
        </p:txBody>
      </p:sp>
      <p:sp>
        <p:nvSpPr>
          <p:cNvPr id="5" name="Espace réservé du texte 12">
            <a:extLst>
              <a:ext uri="{FF2B5EF4-FFF2-40B4-BE49-F238E27FC236}">
                <a16:creationId xmlns:a16="http://schemas.microsoft.com/office/drawing/2014/main" id="{16564AB3-CC19-33C4-64AB-CDBDAA264626}"/>
              </a:ext>
            </a:extLst>
          </p:cNvPr>
          <p:cNvSpPr txBox="1">
            <a:spLocks/>
          </p:cNvSpPr>
          <p:nvPr/>
        </p:nvSpPr>
        <p:spPr>
          <a:xfrm>
            <a:off x="269131" y="1759094"/>
            <a:ext cx="11449272" cy="2917303"/>
          </a:xfrm>
          <a:prstGeom prst="rect">
            <a:avLst/>
          </a:prstGeom>
        </p:spPr>
        <p:txBody>
          <a:bodyPr rtlCol="0">
            <a:normAutofit fontScale="62500" lnSpcReduction="20000"/>
          </a:bodyPr>
          <a:lstStyle>
            <a:lvl1pPr marL="304747" indent="-304747" algn="l" defTabSz="1218987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>
                  <a:lumMod val="75000"/>
                </a:schemeClr>
              </a:buClr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5772" indent="-304747" algn="l" defTabSz="1218987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6797" indent="-30474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822" indent="-30474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08847" indent="-30474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59872" indent="-30474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10897" indent="-30474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61922" indent="-30474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12947" indent="-30474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20000"/>
              </a:lnSpc>
            </a:pPr>
            <a:r>
              <a:rPr lang="fr-FR" b="1" dirty="0"/>
              <a:t>Dim1 – Institutions &amp; équipement</a:t>
            </a:r>
            <a:r>
              <a:rPr lang="fr-FR" dirty="0"/>
              <a:t> : Gouvernance, contrôle, urbain, accès élec, consommation structurée.</a:t>
            </a:r>
          </a:p>
          <a:p>
            <a:pPr marL="457200" indent="-457200">
              <a:lnSpc>
                <a:spcPct val="120000"/>
              </a:lnSpc>
            </a:pPr>
            <a:r>
              <a:rPr lang="fr-FR" b="1" dirty="0"/>
              <a:t>Dim2 – Marché interne</a:t>
            </a:r>
            <a:r>
              <a:rPr lang="fr-FR" dirty="0"/>
              <a:t> : Production/disponibilité volaille, taille du marché.</a:t>
            </a:r>
          </a:p>
          <a:p>
            <a:pPr marL="457200" indent="-457200">
              <a:lnSpc>
                <a:spcPct val="120000"/>
              </a:lnSpc>
            </a:pPr>
            <a:r>
              <a:rPr lang="fr-FR" b="1" dirty="0"/>
              <a:t>Dim3 – Dépendance aux échanges</a:t>
            </a:r>
            <a:r>
              <a:rPr lang="fr-FR" dirty="0"/>
              <a:t> : Continuum exportateurs/autosuffisants ↔ importateurs nets.</a:t>
            </a:r>
          </a:p>
          <a:p>
            <a:pPr marL="457200" indent="-457200">
              <a:lnSpc>
                <a:spcPct val="120000"/>
              </a:lnSpc>
            </a:pPr>
            <a:r>
              <a:rPr lang="fr-FR" b="1" dirty="0"/>
              <a:t>Dim4 – Taille × richesse</a:t>
            </a:r>
            <a:r>
              <a:rPr lang="fr-FR" dirty="0"/>
              <a:t> : Combinaison population totale et PIB/hab.</a:t>
            </a:r>
          </a:p>
          <a:p>
            <a:pPr marL="457200" indent="-457200">
              <a:lnSpc>
                <a:spcPct val="120000"/>
              </a:lnSpc>
            </a:pPr>
            <a:r>
              <a:rPr lang="fr-FR" b="1" dirty="0"/>
              <a:t>Dim5 – Démographie + gouvernance</a:t>
            </a:r>
            <a:r>
              <a:rPr lang="fr-FR" dirty="0"/>
              <a:t> : Pays très peuplés, institutions correctes, fort potentiel volaille.</a:t>
            </a:r>
          </a:p>
        </p:txBody>
      </p:sp>
      <p:pic>
        <p:nvPicPr>
          <p:cNvPr id="3" name="Image 2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EE2E9A2E-BECF-4876-E3E8-C5D75C1522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804" y="4653136"/>
            <a:ext cx="10743927" cy="169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263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86975-ECA9-468A-95D9-D14D2FC3F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 1">
            <a:extLst>
              <a:ext uri="{FF2B5EF4-FFF2-40B4-BE49-F238E27FC236}">
                <a16:creationId xmlns:a16="http://schemas.microsoft.com/office/drawing/2014/main" id="{521385E6-E5D8-91A9-EAB2-E31590EC4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2" y="152400"/>
            <a:ext cx="10348137" cy="1295400"/>
          </a:xfrm>
        </p:spPr>
        <p:txBody>
          <a:bodyPr rtlCol="0"/>
          <a:lstStyle/>
          <a:p>
            <a:pPr rtl="0"/>
            <a:r>
              <a:rPr lang="fr-FR" dirty="0"/>
              <a:t>4-Clustering :</a:t>
            </a:r>
            <a:br>
              <a:rPr lang="fr-FR" dirty="0"/>
            </a:br>
            <a:r>
              <a:rPr lang="fr-FR" dirty="0"/>
              <a:t>a)Méthode CAH</a:t>
            </a:r>
          </a:p>
        </p:txBody>
      </p:sp>
      <p:sp>
        <p:nvSpPr>
          <p:cNvPr id="5" name="Espace réservé du texte 12">
            <a:extLst>
              <a:ext uri="{FF2B5EF4-FFF2-40B4-BE49-F238E27FC236}">
                <a16:creationId xmlns:a16="http://schemas.microsoft.com/office/drawing/2014/main" id="{6B6A4E20-6EE8-7766-58E1-7041A1E26B26}"/>
              </a:ext>
            </a:extLst>
          </p:cNvPr>
          <p:cNvSpPr txBox="1">
            <a:spLocks/>
          </p:cNvSpPr>
          <p:nvPr/>
        </p:nvSpPr>
        <p:spPr>
          <a:xfrm>
            <a:off x="104223" y="1447800"/>
            <a:ext cx="4550029" cy="3853408"/>
          </a:xfrm>
          <a:prstGeom prst="rect">
            <a:avLst/>
          </a:prstGeom>
        </p:spPr>
        <p:txBody>
          <a:bodyPr rtlCol="0">
            <a:normAutofit fontScale="55000" lnSpcReduction="20000"/>
          </a:bodyPr>
          <a:lstStyle>
            <a:lvl1pPr marL="304747" indent="-304747" algn="l" defTabSz="1218987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>
                  <a:lumMod val="75000"/>
                </a:schemeClr>
              </a:buClr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5772" indent="-304747" algn="l" defTabSz="1218987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6797" indent="-30474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822" indent="-30474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08847" indent="-30474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59872" indent="-30474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10897" indent="-30474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61922" indent="-30474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12947" indent="-30474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20000"/>
              </a:lnSpc>
            </a:pPr>
            <a:r>
              <a:rPr lang="fr-FR" dirty="0"/>
              <a:t>CAH (Ward) sur 5 axes ACP → 5 groupes.</a:t>
            </a:r>
          </a:p>
          <a:p>
            <a:pPr marL="457200" indent="-457200">
              <a:lnSpc>
                <a:spcPct val="120000"/>
              </a:lnSpc>
            </a:pPr>
            <a:r>
              <a:rPr lang="fr-FR" dirty="0"/>
              <a:t>Cluster 1 : Pays en retard, plutôt autosuffisants, petits marchés à structurer.</a:t>
            </a:r>
          </a:p>
          <a:p>
            <a:pPr marL="457200" indent="-457200">
              <a:lnSpc>
                <a:spcPct val="120000"/>
              </a:lnSpc>
            </a:pPr>
            <a:r>
              <a:rPr lang="fr-FR" dirty="0"/>
              <a:t>Cluster 2 : Pays intermédiaires, volaille encore secondaire.</a:t>
            </a:r>
          </a:p>
          <a:p>
            <a:pPr marL="457200" indent="-457200">
              <a:lnSpc>
                <a:spcPct val="120000"/>
              </a:lnSpc>
            </a:pPr>
            <a:r>
              <a:rPr lang="fr-FR" dirty="0"/>
              <a:t>Cluster 3 : Grands émergents prioritaires (volume + croissance).</a:t>
            </a:r>
          </a:p>
          <a:p>
            <a:pPr marL="457200" indent="-457200">
              <a:lnSpc>
                <a:spcPct val="120000"/>
              </a:lnSpc>
            </a:pPr>
            <a:r>
              <a:rPr lang="fr-FR" dirty="0"/>
              <a:t>Cluster 4 : Pays en développement, filière en construction.</a:t>
            </a:r>
          </a:p>
          <a:p>
            <a:pPr marL="457200" indent="-457200">
              <a:lnSpc>
                <a:spcPct val="120000"/>
              </a:lnSpc>
            </a:pPr>
            <a:r>
              <a:rPr lang="fr-FR" dirty="0"/>
              <a:t>Cluster 5 : Petits pays très développés, exportateurs « premium ».</a:t>
            </a:r>
          </a:p>
        </p:txBody>
      </p:sp>
      <p:pic>
        <p:nvPicPr>
          <p:cNvPr id="4" name="Image 3" descr="Une image contenant texte, diagramme, Plan, capture d’écran&#10;&#10;Le contenu généré par l’IA peut être incorrect.">
            <a:extLst>
              <a:ext uri="{FF2B5EF4-FFF2-40B4-BE49-F238E27FC236}">
                <a16:creationId xmlns:a16="http://schemas.microsoft.com/office/drawing/2014/main" id="{F6C960B0-DA7D-EFB7-8F89-CA29D9B5F2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8061" y="1340768"/>
            <a:ext cx="7246541" cy="4715154"/>
          </a:xfrm>
          <a:prstGeom prst="rect">
            <a:avLst/>
          </a:prstGeom>
        </p:spPr>
      </p:pic>
      <p:pic>
        <p:nvPicPr>
          <p:cNvPr id="6" name="Image 5" descr="Une image contenant texte, Police, capture d’écran, typographie&#10;&#10;Le contenu généré par l’IA peut être incorrect.">
            <a:extLst>
              <a:ext uri="{FF2B5EF4-FFF2-40B4-BE49-F238E27FC236}">
                <a16:creationId xmlns:a16="http://schemas.microsoft.com/office/drawing/2014/main" id="{31CDE04B-13FF-9214-F67A-1445A14D18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13" y="5390290"/>
            <a:ext cx="5868000" cy="1463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704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252A4-9DF1-8667-9DEE-E9E9FEE4A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 1">
            <a:extLst>
              <a:ext uri="{FF2B5EF4-FFF2-40B4-BE49-F238E27FC236}">
                <a16:creationId xmlns:a16="http://schemas.microsoft.com/office/drawing/2014/main" id="{867AE9A5-07E2-66F7-E3E2-0C063832F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2" y="152400"/>
            <a:ext cx="10348137" cy="1295400"/>
          </a:xfrm>
        </p:spPr>
        <p:txBody>
          <a:bodyPr rtlCol="0"/>
          <a:lstStyle/>
          <a:p>
            <a:pPr rtl="0"/>
            <a:r>
              <a:rPr lang="fr-FR" dirty="0"/>
              <a:t>4-Clustering</a:t>
            </a:r>
            <a:br>
              <a:rPr lang="fr-FR" dirty="0"/>
            </a:br>
            <a:r>
              <a:rPr lang="fr-FR" dirty="0"/>
              <a:t>b) K-</a:t>
            </a:r>
            <a:r>
              <a:rPr lang="fr-FR" dirty="0" err="1"/>
              <a:t>means</a:t>
            </a:r>
            <a:endParaRPr lang="fr-FR" dirty="0"/>
          </a:p>
        </p:txBody>
      </p:sp>
      <p:sp>
        <p:nvSpPr>
          <p:cNvPr id="5" name="Espace réservé du texte 12">
            <a:extLst>
              <a:ext uri="{FF2B5EF4-FFF2-40B4-BE49-F238E27FC236}">
                <a16:creationId xmlns:a16="http://schemas.microsoft.com/office/drawing/2014/main" id="{BDA31C18-9CA8-F936-6EC7-AB97350BAA0B}"/>
              </a:ext>
            </a:extLst>
          </p:cNvPr>
          <p:cNvSpPr txBox="1">
            <a:spLocks/>
          </p:cNvSpPr>
          <p:nvPr/>
        </p:nvSpPr>
        <p:spPr>
          <a:xfrm>
            <a:off x="104223" y="1582416"/>
            <a:ext cx="4550029" cy="3934815"/>
          </a:xfrm>
          <a:prstGeom prst="rect">
            <a:avLst/>
          </a:prstGeom>
        </p:spPr>
        <p:txBody>
          <a:bodyPr rtlCol="0">
            <a:normAutofit fontScale="62500" lnSpcReduction="20000"/>
          </a:bodyPr>
          <a:lstStyle>
            <a:lvl1pPr marL="304747" indent="-304747" algn="l" defTabSz="1218987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>
                  <a:lumMod val="75000"/>
                </a:schemeClr>
              </a:buClr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5772" indent="-304747" algn="l" defTabSz="1218987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6797" indent="-30474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822" indent="-30474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08847" indent="-30474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59872" indent="-30474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10897" indent="-30474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61922" indent="-30474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12947" indent="-30474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20000"/>
              </a:lnSpc>
            </a:pPr>
            <a:r>
              <a:rPr lang="fr-FR" dirty="0"/>
              <a:t>Silhouette : Optimum à k = 4 (groupes bien séparés).</a:t>
            </a:r>
          </a:p>
          <a:p>
            <a:pPr marL="457200" indent="-457200">
              <a:lnSpc>
                <a:spcPct val="120000"/>
              </a:lnSpc>
            </a:pPr>
            <a:r>
              <a:rPr lang="fr-FR" dirty="0"/>
              <a:t>Cluster 1 (14 pays) : Forte demande, très dépendants des importations.</a:t>
            </a:r>
          </a:p>
          <a:p>
            <a:pPr marL="457200" indent="-457200">
              <a:lnSpc>
                <a:spcPct val="120000"/>
              </a:lnSpc>
            </a:pPr>
            <a:r>
              <a:rPr lang="fr-FR" dirty="0"/>
              <a:t>Cluster 2 (50 pays) : Marchés en retard, volaille encore secondaire.</a:t>
            </a:r>
          </a:p>
          <a:p>
            <a:pPr marL="457200" indent="-457200">
              <a:lnSpc>
                <a:spcPct val="120000"/>
              </a:lnSpc>
            </a:pPr>
            <a:r>
              <a:rPr lang="fr-FR" dirty="0"/>
              <a:t>Cluster 3 (07 pays) : Pays développés exportateurs premium. </a:t>
            </a:r>
          </a:p>
          <a:p>
            <a:pPr marL="457200" indent="-457200">
              <a:lnSpc>
                <a:spcPct val="120000"/>
              </a:lnSpc>
            </a:pPr>
            <a:r>
              <a:rPr lang="fr-FR" dirty="0"/>
              <a:t>Cluster 4 (54 pays) : Marchés développés à fort potentiel de montée </a:t>
            </a:r>
          </a:p>
        </p:txBody>
      </p:sp>
      <p:pic>
        <p:nvPicPr>
          <p:cNvPr id="3" name="Image 2" descr="Une image contenant texte, ligne, diagramme, Tracé&#10;&#10;Le contenu généré par l’IA peut être incorrect.">
            <a:extLst>
              <a:ext uri="{FF2B5EF4-FFF2-40B4-BE49-F238E27FC236}">
                <a16:creationId xmlns:a16="http://schemas.microsoft.com/office/drawing/2014/main" id="{D21B4ABB-4C60-5480-8D54-D0805C565F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0276" y="1597657"/>
            <a:ext cx="7164136" cy="4534638"/>
          </a:xfrm>
          <a:prstGeom prst="rect">
            <a:avLst/>
          </a:prstGeom>
        </p:spPr>
      </p:pic>
      <p:pic>
        <p:nvPicPr>
          <p:cNvPr id="7" name="Image 6" descr="Une image contenant texte, Police, capture d’écran, nombre&#10;&#10;Le contenu généré par l’IA peut être incorrect.">
            <a:extLst>
              <a:ext uri="{FF2B5EF4-FFF2-40B4-BE49-F238E27FC236}">
                <a16:creationId xmlns:a16="http://schemas.microsoft.com/office/drawing/2014/main" id="{F1607AE7-2DB9-1073-932E-3757C21465B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172"/>
          <a:stretch>
            <a:fillRect/>
          </a:stretch>
        </p:blipFill>
        <p:spPr>
          <a:xfrm>
            <a:off x="20595" y="5756577"/>
            <a:ext cx="5154822" cy="105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390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B5B6B-B3FE-15B0-213B-D4B0180A1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 1">
            <a:extLst>
              <a:ext uri="{FF2B5EF4-FFF2-40B4-BE49-F238E27FC236}">
                <a16:creationId xmlns:a16="http://schemas.microsoft.com/office/drawing/2014/main" id="{9BBBF270-132D-573E-8B91-EB2BB212B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2" y="152400"/>
            <a:ext cx="10348137" cy="1295400"/>
          </a:xfrm>
        </p:spPr>
        <p:txBody>
          <a:bodyPr rtlCol="0"/>
          <a:lstStyle/>
          <a:p>
            <a:pPr rtl="0"/>
            <a:r>
              <a:rPr lang="fr-FR"/>
              <a:t>5-Conclusion </a:t>
            </a:r>
            <a:r>
              <a:rPr lang="fr-FR" dirty="0"/>
              <a:t>– Proposition de listes pays</a:t>
            </a:r>
          </a:p>
        </p:txBody>
      </p:sp>
      <p:sp>
        <p:nvSpPr>
          <p:cNvPr id="5" name="Espace réservé du texte 12">
            <a:extLst>
              <a:ext uri="{FF2B5EF4-FFF2-40B4-BE49-F238E27FC236}">
                <a16:creationId xmlns:a16="http://schemas.microsoft.com/office/drawing/2014/main" id="{B0B65867-CD1B-74F7-5EB3-AF08E3B08C0B}"/>
              </a:ext>
            </a:extLst>
          </p:cNvPr>
          <p:cNvSpPr txBox="1">
            <a:spLocks/>
          </p:cNvSpPr>
          <p:nvPr/>
        </p:nvSpPr>
        <p:spPr>
          <a:xfrm>
            <a:off x="104222" y="1447800"/>
            <a:ext cx="11908563" cy="2197224"/>
          </a:xfrm>
          <a:prstGeom prst="rect">
            <a:avLst/>
          </a:prstGeom>
        </p:spPr>
        <p:txBody>
          <a:bodyPr rtlCol="0">
            <a:normAutofit fontScale="55000" lnSpcReduction="20000"/>
          </a:bodyPr>
          <a:lstStyle>
            <a:lvl1pPr marL="304747" indent="-304747" algn="l" defTabSz="1218987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>
                  <a:lumMod val="75000"/>
                </a:schemeClr>
              </a:buClr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5772" indent="-304747" algn="l" defTabSz="1218987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6797" indent="-30474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822" indent="-30474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08847" indent="-30474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59872" indent="-30474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10897" indent="-30474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61922" indent="-30474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12947" indent="-30474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20000"/>
              </a:lnSpc>
            </a:pPr>
            <a:r>
              <a:rPr lang="fr-FR" dirty="0"/>
              <a:t>Clusters prioritaires (CAH C3, K-</a:t>
            </a:r>
            <a:r>
              <a:rPr lang="fr-FR" dirty="0" err="1"/>
              <a:t>means</a:t>
            </a:r>
            <a:r>
              <a:rPr lang="fr-FR" dirty="0"/>
              <a:t> C3) et </a:t>
            </a:r>
            <a:r>
              <a:rPr lang="fr-FR" dirty="0" err="1"/>
              <a:t>outliers</a:t>
            </a:r>
            <a:r>
              <a:rPr lang="fr-FR" dirty="0"/>
              <a:t> (États-Unis d’Amérique, Brésil) </a:t>
            </a:r>
          </a:p>
          <a:p>
            <a:pPr marL="457200" indent="-457200">
              <a:lnSpc>
                <a:spcPct val="120000"/>
              </a:lnSpc>
            </a:pPr>
            <a:r>
              <a:rPr lang="fr-FR" dirty="0"/>
              <a:t>CAH : Pays développés, bien gouvernés, urbains, déjà gros consommateurs de volaille. Marchés à la fois premium et de volume. </a:t>
            </a:r>
          </a:p>
          <a:p>
            <a:pPr marL="457200" indent="-457200">
              <a:lnSpc>
                <a:spcPct val="120000"/>
              </a:lnSpc>
            </a:pPr>
            <a:r>
              <a:rPr lang="fr-FR" dirty="0"/>
              <a:t>K-</a:t>
            </a:r>
            <a:r>
              <a:rPr lang="fr-FR" dirty="0" err="1"/>
              <a:t>means</a:t>
            </a:r>
            <a:r>
              <a:rPr lang="fr-FR" dirty="0"/>
              <a:t> : Pays très développés, filière avicole structurée, souvent exportatrice. Marchés idéaux pour une stratégie premium / consolidation.</a:t>
            </a:r>
          </a:p>
          <a:p>
            <a:pPr marL="457200" indent="-457200">
              <a:lnSpc>
                <a:spcPct val="120000"/>
              </a:lnSpc>
            </a:pPr>
            <a:r>
              <a:rPr lang="fr-FR" dirty="0" err="1"/>
              <a:t>Outliers</a:t>
            </a:r>
            <a:r>
              <a:rPr lang="fr-FR" dirty="0"/>
              <a:t> à ajouter au bloc prioritaire : États-Unis d’Amérique et Brésil</a:t>
            </a:r>
          </a:p>
        </p:txBody>
      </p:sp>
      <p:pic>
        <p:nvPicPr>
          <p:cNvPr id="4" name="Image 3" descr="Une image contenant texte, capture d’écran, Police, Bleu électrique&#10;&#10;Le contenu généré par l’IA peut être incorrect.">
            <a:extLst>
              <a:ext uri="{FF2B5EF4-FFF2-40B4-BE49-F238E27FC236}">
                <a16:creationId xmlns:a16="http://schemas.microsoft.com/office/drawing/2014/main" id="{06B54A95-8D3E-B7BB-9F3B-345A465EBD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503" y="5263703"/>
            <a:ext cx="11160000" cy="1594296"/>
          </a:xfrm>
          <a:prstGeom prst="rect">
            <a:avLst/>
          </a:prstGeom>
        </p:spPr>
      </p:pic>
      <p:pic>
        <p:nvPicPr>
          <p:cNvPr id="6" name="Image 5" descr="Une image contenant texte, capture d’écran, Police, Bleu électrique&#10;&#10;Le contenu généré par l’IA peut être incorrect.">
            <a:extLst>
              <a:ext uri="{FF2B5EF4-FFF2-40B4-BE49-F238E27FC236}">
                <a16:creationId xmlns:a16="http://schemas.microsoft.com/office/drawing/2014/main" id="{16850F79-3E74-975F-E868-572EF4926F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412" y="3506449"/>
            <a:ext cx="11160000" cy="1410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3604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Cuisine 16x9">
  <a:themeElements>
    <a:clrScheme name="Cooking_16x9">
      <a:dk1>
        <a:srgbClr val="000000"/>
      </a:dk1>
      <a:lt1>
        <a:sysClr val="window" lastClr="FFFFFF"/>
      </a:lt1>
      <a:dk2>
        <a:srgbClr val="7F7F7F"/>
      </a:dk2>
      <a:lt2>
        <a:srgbClr val="E6E6E6"/>
      </a:lt2>
      <a:accent1>
        <a:srgbClr val="89C01C"/>
      </a:accent1>
      <a:accent2>
        <a:srgbClr val="FCB22C"/>
      </a:accent2>
      <a:accent3>
        <a:srgbClr val="FE750E"/>
      </a:accent3>
      <a:accent4>
        <a:srgbClr val="F23610"/>
      </a:accent4>
      <a:accent5>
        <a:srgbClr val="7C283A"/>
      </a:accent5>
      <a:accent6>
        <a:srgbClr val="3E7520"/>
      </a:accent6>
      <a:hlink>
        <a:srgbClr val="89C01C"/>
      </a:hlink>
      <a:folHlink>
        <a:srgbClr val="A6A6A6"/>
      </a:folHlink>
    </a:clrScheme>
    <a:fontScheme name="Constantia">
      <a:maj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1Subtle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l="180000" t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14352462_TF02787942.potx" id="{C96F3070-F9C9-4454-81F6-0A9C225E641C}" vid="{2C164769-70AC-4990-B4D7-F24C5B776CEC}"/>
    </a:ext>
  </a:extLst>
</a:theme>
</file>

<file path=ppt/theme/theme2.xml><?xml version="1.0" encoding="utf-8"?>
<a:theme xmlns:a="http://schemas.openxmlformats.org/drawingml/2006/main" name="Thème Office">
  <a:themeElements>
    <a:clrScheme name="Cooking_16x9">
      <a:dk1>
        <a:srgbClr val="000000"/>
      </a:dk1>
      <a:lt1>
        <a:sysClr val="window" lastClr="FFFFFF"/>
      </a:lt1>
      <a:dk2>
        <a:srgbClr val="7F7F7F"/>
      </a:dk2>
      <a:lt2>
        <a:srgbClr val="E6E6E6"/>
      </a:lt2>
      <a:accent1>
        <a:srgbClr val="89C01C"/>
      </a:accent1>
      <a:accent2>
        <a:srgbClr val="FCB22C"/>
      </a:accent2>
      <a:accent3>
        <a:srgbClr val="FE750E"/>
      </a:accent3>
      <a:accent4>
        <a:srgbClr val="F23610"/>
      </a:accent4>
      <a:accent5>
        <a:srgbClr val="7C283A"/>
      </a:accent5>
      <a:accent6>
        <a:srgbClr val="3E7520"/>
      </a:accent6>
      <a:hlink>
        <a:srgbClr val="89C01C"/>
      </a:hlink>
      <a:folHlink>
        <a:srgbClr val="A6A6A6"/>
      </a:folHlink>
    </a:clrScheme>
    <a:fontScheme name="Constantia">
      <a:maj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1Subtle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l="180000" t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Cooking_16x9">
      <a:dk1>
        <a:srgbClr val="000000"/>
      </a:dk1>
      <a:lt1>
        <a:sysClr val="window" lastClr="FFFFFF"/>
      </a:lt1>
      <a:dk2>
        <a:srgbClr val="7F7F7F"/>
      </a:dk2>
      <a:lt2>
        <a:srgbClr val="E6E6E6"/>
      </a:lt2>
      <a:accent1>
        <a:srgbClr val="89C01C"/>
      </a:accent1>
      <a:accent2>
        <a:srgbClr val="FCB22C"/>
      </a:accent2>
      <a:accent3>
        <a:srgbClr val="FE750E"/>
      </a:accent3>
      <a:accent4>
        <a:srgbClr val="F23610"/>
      </a:accent4>
      <a:accent5>
        <a:srgbClr val="7C283A"/>
      </a:accent5>
      <a:accent6>
        <a:srgbClr val="3E7520"/>
      </a:accent6>
      <a:hlink>
        <a:srgbClr val="89C01C"/>
      </a:hlink>
      <a:folHlink>
        <a:srgbClr val="A6A6A6"/>
      </a:folHlink>
    </a:clrScheme>
    <a:fontScheme name="Constantia">
      <a:maj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1Subtle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l="180000" t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3F7D94069FF64A86F7DFF56D60E3BE" ma:contentTypeVersion="6" ma:contentTypeDescription="Create a new document." ma:contentTypeScope="" ma:versionID="c32302c77d4085ecf495bdddb7f5e889">
  <xsd:schema xmlns:xsd="http://www.w3.org/2001/XMLSchema" xmlns:xs="http://www.w3.org/2001/XMLSchema" xmlns:p="http://schemas.microsoft.com/office/2006/metadata/properties" xmlns:ns2="a4f35948-e619-41b3-aa29-22878b09cfd2" xmlns:ns3="40262f94-9f35-4ac3-9a90-690165a166b7" targetNamespace="http://schemas.microsoft.com/office/2006/metadata/properties" ma:root="true" ma:fieldsID="4ab5ae46be95f9d0be6107e8200be7a2" ns2:_="" ns3:_="">
    <xsd:import namespace="a4f35948-e619-41b3-aa29-22878b09cfd2"/>
    <xsd:import namespace="40262f94-9f35-4ac3-9a90-690165a166b7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VSO_x0020_item_x0020_id" minOccurs="0"/>
                <xsd:element ref="ns3:Item_x0020_Details" minOccurs="0"/>
                <xsd:element ref="ns3:Template_x0020_details" minOccurs="0"/>
                <xsd:element ref="ns3:Assetid_x0020_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f35948-e619-41b3-aa29-22878b09cfd2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262f94-9f35-4ac3-9a90-690165a166b7" elementFormDefault="qualified">
    <xsd:import namespace="http://schemas.microsoft.com/office/2006/documentManagement/types"/>
    <xsd:import namespace="http://schemas.microsoft.com/office/infopath/2007/PartnerControls"/>
    <xsd:element name="VSO_x0020_item_x0020_id" ma:index="10" nillable="true" ma:displayName="VSO item id" ma:description="Please add the bug number to refer to VSO items." ma:internalName="VSO_x0020_item_x0020_id">
      <xsd:simpleType>
        <xsd:restriction base="dms:Text">
          <xsd:maxLength value="255"/>
        </xsd:restriction>
      </xsd:simpleType>
    </xsd:element>
    <xsd:element name="Item_x0020_Details" ma:index="11" nillable="true" ma:displayName="Item Details" ma:internalName="Item_x0020_Details">
      <xsd:simpleType>
        <xsd:restriction base="dms:Note">
          <xsd:maxLength value="255"/>
        </xsd:restriction>
      </xsd:simpleType>
    </xsd:element>
    <xsd:element name="Template_x0020_details" ma:index="12" nillable="true" ma:displayName="Template details" ma:internalName="Template_x0020_details">
      <xsd:simpleType>
        <xsd:restriction base="dms:Text"/>
      </xsd:simpleType>
    </xsd:element>
    <xsd:element name="Assetid_x0020_" ma:index="13" nillable="true" ma:displayName="Assetid " ma:internalName="Assetid_x0020_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VSO_x0020_item_x0020_id xmlns="40262f94-9f35-4ac3-9a90-690165a166b7" xsi:nil="true"/>
    <Assetid_x0020_ xmlns="40262f94-9f35-4ac3-9a90-690165a166b7" xsi:nil="true"/>
    <Item_x0020_Details xmlns="40262f94-9f35-4ac3-9a90-690165a166b7" xsi:nil="true"/>
    <Template_x0020_details xmlns="40262f94-9f35-4ac3-9a90-690165a166b7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B14945D-DABB-422F-9B28-D299995C922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4f35948-e619-41b3-aa29-22878b09cfd2"/>
    <ds:schemaRef ds:uri="40262f94-9f35-4ac3-9a90-690165a166b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E700CCB-20BA-4760-AB9F-AC3B63ED32E0}">
  <ds:schemaRefs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purl.org/dc/dcmitype/"/>
    <ds:schemaRef ds:uri="40262f94-9f35-4ac3-9a90-690165a166b7"/>
    <ds:schemaRef ds:uri="a4f35948-e619-41b3-aa29-22878b09cfd2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308942AA-0721-4324-BC2C-A3CB43F24E7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Présentation Produits frais (grand écran)</Template>
  <TotalTime>3103</TotalTime>
  <Words>1668</Words>
  <Application>Microsoft Office PowerPoint</Application>
  <PresentationFormat>Personnalisé</PresentationFormat>
  <Paragraphs>142</Paragraphs>
  <Slides>24</Slides>
  <Notes>23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24</vt:i4>
      </vt:variant>
    </vt:vector>
  </HeadingPairs>
  <TitlesOfParts>
    <vt:vector size="28" baseType="lpstr">
      <vt:lpstr>Arial</vt:lpstr>
      <vt:lpstr>Constantia</vt:lpstr>
      <vt:lpstr>Constantia (Corps)</vt:lpstr>
      <vt:lpstr>Cuisine 16x9</vt:lpstr>
      <vt:lpstr>PRODUIRE UNE ÉTUDE DE MARCHÉ AVEC R</vt:lpstr>
      <vt:lpstr>Sommaire</vt:lpstr>
      <vt:lpstr>1-Contexte du projet</vt:lpstr>
      <vt:lpstr>2-Traitement des données</vt:lpstr>
      <vt:lpstr>3-Analyse exploratoire  a)Matrice de corrélation</vt:lpstr>
      <vt:lpstr>3-Analyse exploratoire  b) ACP1 : Détection des outliers Choix du nombre de composantes et des axes</vt:lpstr>
      <vt:lpstr>3-Analyse exploratoire  b) ACP1 : Détection des outliers Cercle de corrélation Dim1-Dim2</vt:lpstr>
      <vt:lpstr>3-Analyse exploratoire  b) ACP1 : Détection des outliers Cercle de corrélation Dim3-Dim4</vt:lpstr>
      <vt:lpstr>3-Analyse exploratoire  b) ACP1 : Détection des outliers Matrice dimensions/variables</vt:lpstr>
      <vt:lpstr>3-Analyse exploratoire  b) ACP1 : Détection des outliers Plan factoriel Dim1-Dim2</vt:lpstr>
      <vt:lpstr>3-Analyse exploratoire  b) ACP1 : Détection des outliers Plan factoriel Dim3-Dim4</vt:lpstr>
      <vt:lpstr>3-Analyse exploratoire  b) ACP1 : Détection des outliers Caractériser les outliers</vt:lpstr>
      <vt:lpstr>3-Analyse exploratoire  c) ACP2 : Sans les outliers Choix du nombre de composantes et des axes</vt:lpstr>
      <vt:lpstr>3-Analyse exploratoire  c) ACP2 : Sans les outliers Cercle de corrélation Dim1-Dim2</vt:lpstr>
      <vt:lpstr>3-Analyse exploratoire  c) ACP2 : Sans les outliers Cercle de corrélation Dim3-Dim4</vt:lpstr>
      <vt:lpstr>3-Analyse exploratoire  c) ACP2 : Sans les outliers  Cercle de corrélation Dim1-Dim5</vt:lpstr>
      <vt:lpstr> 3-Analyse exploratoire  c) ACP2 : Sans les outliers  Matrice dimensions/variables</vt:lpstr>
      <vt:lpstr>3-Analyse exploratoire  c) ACP2 : Sans les outliers Plan factoriel Dim1-Dim2</vt:lpstr>
      <vt:lpstr>3-Analyse exploratoire  c) ACP2 : Sans les outliers Plan factoriel Dim3-Dim4</vt:lpstr>
      <vt:lpstr>3-Analyse exploratoire  c) ACP2 : Sans les outliers Plan factoriel Dim1-Dim5</vt:lpstr>
      <vt:lpstr>3-Analyse exploratoire  c) ACP2 : Sans les outliers Coordonnées des pays dans l’espace à 5 dimensions</vt:lpstr>
      <vt:lpstr>4-Clustering : a)Méthode CAH</vt:lpstr>
      <vt:lpstr>4-Clustering b) K-means</vt:lpstr>
      <vt:lpstr>5-Conclusion – Proposition de listes pays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Junior Brovou</dc:creator>
  <cp:lastModifiedBy>Junior Brovou</cp:lastModifiedBy>
  <cp:revision>9</cp:revision>
  <dcterms:created xsi:type="dcterms:W3CDTF">2026-01-17T19:30:28Z</dcterms:created>
  <dcterms:modified xsi:type="dcterms:W3CDTF">2026-01-20T18:36:52Z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0x010100AA3F7D94069FF64A86F7DFF56D60E3BE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